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8" r:id="rId4"/>
    <p:sldId id="257" r:id="rId5"/>
    <p:sldId id="258" r:id="rId6"/>
    <p:sldId id="261" r:id="rId7"/>
    <p:sldId id="264" r:id="rId8"/>
    <p:sldId id="262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59" r:id="rId29"/>
    <p:sldId id="260" r:id="rId30"/>
    <p:sldId id="266" r:id="rId31"/>
    <p:sldId id="263" r:id="rId32"/>
    <p:sldId id="285" r:id="rId33"/>
    <p:sldId id="287" r:id="rId3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83333" autoAdjust="0"/>
  </p:normalViewPr>
  <p:slideViewPr>
    <p:cSldViewPr>
      <p:cViewPr>
        <p:scale>
          <a:sx n="81" d="100"/>
          <a:sy n="81" d="100"/>
        </p:scale>
        <p:origin x="-1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med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F9539-EE82-4774-82B7-C9C5AC5C4F81}" type="datetimeFigureOut">
              <a:rPr lang="es-MX" smtClean="0"/>
              <a:pPr/>
              <a:t>09/05/2017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A1CF8-14ED-4167-B914-B96945135DEB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randomBar dir="vert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1628800"/>
            <a:ext cx="8748464" cy="1584176"/>
          </a:xfrm>
        </p:spPr>
        <p:txBody>
          <a:bodyPr>
            <a:normAutofit/>
          </a:bodyPr>
          <a:lstStyle/>
          <a:p>
            <a:r>
              <a:rPr lang="es-MX" b="1" dirty="0" smtClean="0">
                <a:latin typeface="Arial" pitchFamily="34" charset="0"/>
                <a:cs typeface="Arial" pitchFamily="34" charset="0"/>
              </a:rPr>
              <a:t>Conversión de Gramáticas Libres de Contexto</a:t>
            </a:r>
            <a:endParaRPr lang="es-MX" sz="4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75656" y="3573016"/>
            <a:ext cx="6400800" cy="2232248"/>
          </a:xfrm>
        </p:spPr>
        <p:txBody>
          <a:bodyPr>
            <a:normAutofit/>
          </a:bodyPr>
          <a:lstStyle/>
          <a:p>
            <a:r>
              <a:rPr lang="es-MX" sz="2800" b="1" dirty="0" smtClean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EQUIPO 6</a:t>
            </a:r>
          </a:p>
          <a:p>
            <a:r>
              <a:rPr lang="es-MX" sz="2800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Jardón</a:t>
            </a:r>
            <a:r>
              <a:rPr lang="es-MX" sz="28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Jara </a:t>
            </a:r>
            <a:r>
              <a:rPr lang="es-MX" sz="2800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Micheelle</a:t>
            </a:r>
            <a:r>
              <a:rPr lang="es-MX" sz="28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Enrique</a:t>
            </a:r>
          </a:p>
          <a:p>
            <a:r>
              <a:rPr lang="es-MX" sz="28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Perfecto Espinosa Valeria</a:t>
            </a:r>
            <a:endParaRPr lang="es-MX" sz="28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91680" y="0"/>
            <a:ext cx="5832648" cy="1008112"/>
          </a:xfrm>
        </p:spPr>
        <p:txBody>
          <a:bodyPr/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Objetivo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374441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sz="2400" dirty="0" smtClean="0"/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Desarrollar el tema de Conversión de Gramáticas Libres de Contexto (</a:t>
            </a:r>
            <a:r>
              <a:rPr lang="es-MX" sz="2400" b="1" dirty="0" smtClean="0">
                <a:latin typeface="Arial" pitchFamily="34" charset="0"/>
                <a:cs typeface="Arial" pitchFamily="34" charset="0"/>
              </a:rPr>
              <a:t>GLC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): </a:t>
            </a:r>
          </a:p>
          <a:p>
            <a:pPr algn="just">
              <a:buNone/>
            </a:pP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Algoritmos para la conversión a una gramática limpia, a una gramática bien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f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ormada y a una normalizada según Forma Normal de Chomsky (</a:t>
            </a:r>
            <a:r>
              <a:rPr lang="es-MX" sz="2400" b="1" dirty="0" smtClean="0">
                <a:latin typeface="Arial" pitchFamily="34" charset="0"/>
                <a:cs typeface="Arial" pitchFamily="34" charset="0"/>
              </a:rPr>
              <a:t>FNC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), mediante esta presentación de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Power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Point que incluya teoría y ejercicios sobre el mismo.</a:t>
            </a:r>
            <a:endParaRPr lang="es-MX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979712" y="765666"/>
            <a:ext cx="5385792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4000" b="1" noProof="0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rPr>
              <a:t>Ejercicio</a:t>
            </a:r>
            <a:endParaRPr kumimoji="0" lang="es-MX" sz="4000" b="1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557808" y="2204864"/>
            <a:ext cx="8229600" cy="3096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Realizar los árboles</a:t>
            </a:r>
            <a:r>
              <a:rPr kumimoji="0" lang="es-MX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de derivación de cada ejemplo explicado durante la presentación</a:t>
            </a: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 Deberán ser 2 árboles por</a:t>
            </a:r>
            <a:r>
              <a:rPr kumimoji="0" lang="es-MX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cada ejemplo: uno con la gramática inicial y otro con la gramática modificada, comprobando una cadena aceptada por ambos árboles.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MX" sz="2400" baseline="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baseline="0" dirty="0" smtClean="0">
                <a:latin typeface="Arial" pitchFamily="34" charset="0"/>
                <a:cs typeface="Arial" pitchFamily="34" charset="0"/>
              </a:rPr>
              <a:t>NOTA: 7 ejemplos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en total.</a:t>
            </a:r>
            <a:endParaRPr kumimoji="0" lang="es-MX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01825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Gramática Libre de Contexto (GLC)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20000"/>
          </a:bodyPr>
          <a:lstStyle/>
          <a:p>
            <a:pPr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De 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tipo 2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según la Jerarquía de Chomsky.</a:t>
            </a:r>
          </a:p>
          <a:p>
            <a:pPr>
              <a:buBlip>
                <a:blip r:embed="rId2"/>
              </a:buBlip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Elementos 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G= {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V, T, S, P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donde: </a:t>
            </a:r>
          </a:p>
          <a:p>
            <a:pPr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*V = Conjunto finito de símbolos No Terminales 	(MAYÚSCULAS).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*T= Conjunto finito de símbolos Terminales 	(minúsculas).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*S= Símbolo o elemento inicial No terminal (el arranque).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*P= Reglas de Producción (Definición recursiva del 	lenguaje).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Gramática Limpia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052736"/>
            <a:ext cx="6552728" cy="1584176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No contiene reglas innecesarias.</a:t>
            </a:r>
          </a:p>
          <a:p>
            <a:pPr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No contiene símbolos superfluos.</a:t>
            </a:r>
          </a:p>
          <a:p>
            <a:pPr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No contiene símbolos inaccesibles.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539552" y="26369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Gramática Bien</a:t>
            </a:r>
            <a:r>
              <a:rPr kumimoji="0" lang="es-MX" sz="44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Formada</a:t>
            </a:r>
            <a:endParaRPr kumimoji="0" lang="es-MX" sz="4400" b="1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539552" y="3573016"/>
            <a:ext cx="7776864" cy="25202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Es limpia.</a:t>
            </a:r>
          </a:p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No contiene reglas no generativas o producciones nulas (reglas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con la cadena vacía</a:t>
            </a:r>
          </a:p>
          <a:p>
            <a:pPr marR="0" lvl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épsilon ).</a:t>
            </a: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Blip>
                <a:blip r:embed="rId2"/>
              </a:buBlip>
              <a:tabLst/>
              <a:defRPr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No contiene reglas unitarias o de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re-denominación</a:t>
            </a:r>
            <a:r>
              <a:rPr lang="es-MX" sz="28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Conversión a Gramática </a:t>
            </a:r>
            <a:b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Bien Formada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988841"/>
            <a:ext cx="8229600" cy="3744416"/>
          </a:xfrm>
        </p:spPr>
        <p:txBody>
          <a:bodyPr/>
          <a:lstStyle/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Algoritmo para obtener una gramática bien formada.</a:t>
            </a:r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Eliminar reglas innecesarias.</a:t>
            </a:r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Eliminar reglas no generativas (reglas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) .</a:t>
            </a:r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Eliminar reglas unitarias.</a:t>
            </a:r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Eliminar símbolos superfluos.</a:t>
            </a:r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Eliminar símbolos inaccesibles.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Reglas innecesarias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Una regla de la forma 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A::= A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es innecesaria y puede ser eliminada.</a:t>
            </a:r>
          </a:p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No se necesita seguir un algoritmo para eliminarse.</a:t>
            </a:r>
          </a:p>
          <a:p>
            <a:pPr algn="just">
              <a:buNone/>
            </a:pPr>
            <a:endParaRPr lang="es-MX" sz="1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Ejemplo (1) : Sea G = {V,T,S,P} con las siguientes producciones: 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S::=A | B			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A::=A | 0	      se elimina A::=A  y nos queda A::=0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B::=A | B | 1 | 2	 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Reglas No Generativas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</p:spPr>
        <p:txBody>
          <a:bodyPr/>
          <a:lstStyle/>
          <a:p>
            <a:pPr algn="just">
              <a:buBlip>
                <a:blip r:embed="rId2"/>
              </a:buBlip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Es una regla de la forma 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::=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siendo A  V. </a:t>
            </a:r>
          </a:p>
          <a:p>
            <a:pPr algn="just">
              <a:buBlip>
                <a:blip r:embed="rId2"/>
              </a:buBlip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Los símbolos A, tales que A</a:t>
            </a:r>
            <a:r>
              <a:rPr lang="es-MX" sz="2800" dirty="0">
                <a:latin typeface="Arial" pitchFamily="34" charset="0"/>
                <a:cs typeface="Arial" pitchFamily="34" charset="0"/>
                <a:sym typeface="Wingdings" pitchFamily="2" charset="2"/>
              </a:rPr>
              <a:t> *</a:t>
            </a: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se denominan </a:t>
            </a:r>
            <a:r>
              <a:rPr lang="es-MX" sz="2800" i="1" dirty="0">
                <a:latin typeface="Arial" pitchFamily="34" charset="0"/>
                <a:cs typeface="Arial" pitchFamily="34" charset="0"/>
                <a:sym typeface="Symbol"/>
              </a:rPr>
              <a:t>anulables</a:t>
            </a: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.</a:t>
            </a:r>
          </a:p>
          <a:p>
            <a:pPr algn="just">
              <a:buBlip>
                <a:blip r:embed="rId2"/>
              </a:buBlip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Algoritmo 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Sea la GLC G={V,T,S,P}. Transformamos G en 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={V,T,S,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} de forma que L(G)=L(G’). </a:t>
            </a:r>
          </a:p>
          <a:p>
            <a:pPr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AutoNum type="arabicParenR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Obtención de los símbolos anulables en G (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conjunto SA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514350" indent="-514350" algn="ctr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SA={A|A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V y (A::=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є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P}.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90465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Creación de G’:</a:t>
            </a:r>
          </a:p>
          <a:p>
            <a:pPr algn="just">
              <a:buNone/>
            </a:pPr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2.1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2.2 Se separa cada regla de producción y se sustituye de la siguiente forma: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* Si un símbolo de la parte izquierda no es anulable (SA) no se modifica.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* Si un símbolo de la parte izquierda es anulable (SA) se agrega una opción donde este símbolo se sustituye por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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.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2.3 De estas nuevas reglas se eliminan los que tienen la forma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B::= 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, y de las reglas restantes se eliminan los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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. Las reglas resultantes se incluyen en P’. 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2.4 Si S  SA entonces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=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 {S::=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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}.</a:t>
            </a:r>
            <a:endParaRPr lang="es-MX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endParaRPr lang="es-MX" sz="2400" dirty="0" smtClean="0">
              <a:latin typeface="Arial" pitchFamily="34" charset="0"/>
              <a:cs typeface="Arial" pitchFamily="34" charset="0"/>
              <a:sym typeface="Symbo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>
              <a:buBlip>
                <a:blip r:embed="rId2"/>
              </a:buBlip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Ejemplo (2)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Sea G una gramática definida por las siguientes reglas: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	S::=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	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</a:t>
            </a: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	B::=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 </a:t>
            </a: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	E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::=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>
              <a:sym typeface="Symbol"/>
            </a:endParaRPr>
          </a:p>
          <a:p>
            <a:pPr>
              <a:buNone/>
            </a:pPr>
            <a:endParaRPr lang="es-MX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1) Obtención de los símbolos anulables en G (conjunto SA).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SA= {B,E}		(por B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::=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y E::= </a:t>
            </a:r>
            <a:r>
              <a:rPr lang="az-Cyrl-AZ" sz="24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)</a:t>
            </a: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SA={B,E,S}		(por S::=B)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SA={B,E,S,A}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(por A::=E)</a:t>
            </a: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76672"/>
            <a:ext cx="8686800" cy="597666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2) Creación de G’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2.1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2.2 y 2.3</a:t>
            </a: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S::=Aa |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a       	S::=Aa | a</a:t>
            </a: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S::= B        S::=B |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	 S::= B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 A::=Aa |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a      	A::=Aa | a</a:t>
            </a: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 A::=bA | b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	A::=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A::= BE      A::= BE | B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|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E | </a:t>
            </a:r>
            <a:r>
              <a:rPr lang="az-Cyrl-AZ" sz="2800" dirty="0" smtClean="0">
                <a:latin typeface="Arial" pitchFamily="34" charset="0"/>
                <a:cs typeface="Arial" pitchFamily="34" charset="0"/>
              </a:rPr>
              <a:t>є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     A::= BE | B | E</a:t>
            </a: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B::=bB | b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є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    	B::=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B::= b	  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::= b 	 	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::= b</a:t>
            </a: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 	  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              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SE ELIMINA</a:t>
            </a:r>
            <a:endParaRPr lang="es-MX" sz="28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E::=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  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E::=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SE ELIMINA</a:t>
            </a:r>
            <a:endParaRPr lang="es-MX" sz="28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4211960" y="116632"/>
            <a:ext cx="471601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	SA={B,E,S,A}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1900" dirty="0" smtClean="0">
                <a:latin typeface="Arial" pitchFamily="34" charset="0"/>
                <a:cs typeface="Arial" pitchFamily="34" charset="0"/>
              </a:rPr>
              <a:t>S::=</a:t>
            </a:r>
            <a:r>
              <a:rPr lang="es-MX" sz="19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19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1900" dirty="0" smtClean="0">
                <a:latin typeface="Arial" pitchFamily="34" charset="0"/>
                <a:cs typeface="Arial" pitchFamily="34" charset="0"/>
              </a:rPr>
              <a:t>			A::=</a:t>
            </a:r>
            <a:r>
              <a:rPr lang="es-MX" sz="19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19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19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1900" dirty="0" smtClean="0">
                <a:latin typeface="Arial" pitchFamily="34" charset="0"/>
                <a:cs typeface="Arial" pitchFamily="34" charset="0"/>
              </a:rPr>
              <a:t> | BE</a:t>
            </a:r>
          </a:p>
          <a:p>
            <a:pPr>
              <a:buNone/>
            </a:pPr>
            <a:r>
              <a:rPr lang="es-MX" sz="1900" dirty="0" smtClean="0">
                <a:latin typeface="Arial" pitchFamily="34" charset="0"/>
                <a:cs typeface="Arial" pitchFamily="34" charset="0"/>
              </a:rPr>
              <a:t>			B::= </a:t>
            </a:r>
            <a:r>
              <a:rPr lang="es-MX" sz="19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1900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az-Cyrl-AZ" sz="2000" dirty="0">
                <a:latin typeface="Arial" pitchFamily="34" charset="0"/>
                <a:cs typeface="Arial" pitchFamily="34" charset="0"/>
              </a:rPr>
              <a:t>є </a:t>
            </a:r>
            <a:endParaRPr lang="es-MX" sz="19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1900" dirty="0" smtClean="0">
                <a:latin typeface="Arial" pitchFamily="34" charset="0"/>
                <a:cs typeface="Arial" pitchFamily="34" charset="0"/>
                <a:sym typeface="Symbol"/>
              </a:rPr>
              <a:t>			E::=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/>
          </a:p>
        </p:txBody>
      </p:sp>
      <p:sp>
        <p:nvSpPr>
          <p:cNvPr id="5" name="4 Flecha derecha"/>
          <p:cNvSpPr/>
          <p:nvPr/>
        </p:nvSpPr>
        <p:spPr>
          <a:xfrm>
            <a:off x="2123728" y="3429000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5 Flecha derecha"/>
          <p:cNvSpPr/>
          <p:nvPr/>
        </p:nvSpPr>
        <p:spPr>
          <a:xfrm>
            <a:off x="4572000" y="2060848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6 Flecha derecha"/>
          <p:cNvSpPr/>
          <p:nvPr/>
        </p:nvSpPr>
        <p:spPr>
          <a:xfrm>
            <a:off x="2123728" y="3933056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7 Flecha derecha"/>
          <p:cNvSpPr/>
          <p:nvPr/>
        </p:nvSpPr>
        <p:spPr>
          <a:xfrm>
            <a:off x="4572000" y="2492896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8 Flecha derecha"/>
          <p:cNvSpPr/>
          <p:nvPr/>
        </p:nvSpPr>
        <p:spPr>
          <a:xfrm>
            <a:off x="2123728" y="2060848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9 Flecha derecha"/>
          <p:cNvSpPr/>
          <p:nvPr/>
        </p:nvSpPr>
        <p:spPr>
          <a:xfrm>
            <a:off x="4572000" y="292494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10 Flecha derecha"/>
          <p:cNvSpPr/>
          <p:nvPr/>
        </p:nvSpPr>
        <p:spPr>
          <a:xfrm>
            <a:off x="4572000" y="3429000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11 Flecha derecha"/>
          <p:cNvSpPr/>
          <p:nvPr/>
        </p:nvSpPr>
        <p:spPr>
          <a:xfrm>
            <a:off x="5943382" y="400506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12 Flecha derecha"/>
          <p:cNvSpPr/>
          <p:nvPr/>
        </p:nvSpPr>
        <p:spPr>
          <a:xfrm>
            <a:off x="2123728" y="2996952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13 Flecha derecha"/>
          <p:cNvSpPr/>
          <p:nvPr/>
        </p:nvSpPr>
        <p:spPr>
          <a:xfrm>
            <a:off x="2123728" y="256490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Flecha derecha"/>
          <p:cNvSpPr/>
          <p:nvPr/>
        </p:nvSpPr>
        <p:spPr>
          <a:xfrm>
            <a:off x="2123728" y="436510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15 Flecha derecha"/>
          <p:cNvSpPr/>
          <p:nvPr/>
        </p:nvSpPr>
        <p:spPr>
          <a:xfrm>
            <a:off x="4499992" y="436510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Flecha derecha"/>
          <p:cNvSpPr/>
          <p:nvPr/>
        </p:nvSpPr>
        <p:spPr>
          <a:xfrm>
            <a:off x="4211960" y="4869160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17 Flecha derecha"/>
          <p:cNvSpPr/>
          <p:nvPr/>
        </p:nvSpPr>
        <p:spPr>
          <a:xfrm>
            <a:off x="2051720" y="4869160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18 Flecha derecha"/>
          <p:cNvSpPr/>
          <p:nvPr/>
        </p:nvSpPr>
        <p:spPr>
          <a:xfrm>
            <a:off x="2051720" y="5301208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19 Flecha derecha"/>
          <p:cNvSpPr/>
          <p:nvPr/>
        </p:nvSpPr>
        <p:spPr>
          <a:xfrm>
            <a:off x="2051720" y="580526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20 Flecha derecha"/>
          <p:cNvSpPr/>
          <p:nvPr/>
        </p:nvSpPr>
        <p:spPr>
          <a:xfrm>
            <a:off x="4211960" y="5805264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21 Flecha derecha"/>
          <p:cNvSpPr/>
          <p:nvPr/>
        </p:nvSpPr>
        <p:spPr>
          <a:xfrm>
            <a:off x="4211960" y="5301208"/>
            <a:ext cx="432048" cy="144016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2.4 Se añade la regla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S::=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porque SSA.</a:t>
            </a:r>
          </a:p>
          <a:p>
            <a:pPr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Reglas de Producción modificadas:</a:t>
            </a:r>
          </a:p>
          <a:p>
            <a:pPr algn="just">
              <a:buNone/>
            </a:pPr>
            <a:endParaRPr lang="es-MX" sz="2800" dirty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 {	S::=Aa | a | B |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</a:t>
            </a:r>
            <a:endParaRPr lang="es-MX" sz="2800" dirty="0" smtClean="0">
              <a:solidFill>
                <a:srgbClr val="FF0000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 		A::=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| a | 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bA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| b | BE | B | E 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			B::=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| b }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pPr algn="just">
              <a:buNone/>
            </a:pP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Ahora existe la regla A::=E. E es un símbolo superfluo que se eliminará más adelante según el algoritmo.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Reglas No Generativas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857403"/>
          </a:xfrm>
        </p:spPr>
        <p:txBody>
          <a:bodyPr>
            <a:normAutofit/>
          </a:bodyPr>
          <a:lstStyle/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Son de la forma 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A::=B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, siendo A,B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V </a:t>
            </a:r>
          </a:p>
          <a:p>
            <a:pPr algn="just">
              <a:buBlip>
                <a:blip r:embed="rId2"/>
              </a:buBlip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Existen 2 algoritmos para eliminar reglas unitarias.</a:t>
            </a:r>
          </a:p>
          <a:p>
            <a:pPr algn="just"/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AutoNum type="arabicParenR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Algoritmo para derivaciones unitarias que no sean cíclicas de la forma: A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B  … A.</a:t>
            </a:r>
          </a:p>
          <a:p>
            <a:pPr marL="514350" indent="-514350" algn="just">
              <a:buAutoNum type="arabicParenR"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Algoritmo general; funciona en todos los casos.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0"/>
            <a:ext cx="4464496" cy="1052736"/>
          </a:xfrm>
        </p:spPr>
        <p:txBody>
          <a:bodyPr>
            <a:normAutofit/>
          </a:bodyPr>
          <a:lstStyle/>
          <a:p>
            <a:pPr algn="l"/>
            <a:r>
              <a:rPr lang="es-MX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1) Algoritmo Simple</a:t>
            </a:r>
            <a:endParaRPr lang="es-MX" sz="3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5688632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Repetir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Para cada regla unitaria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A::=B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se sustituye B por sus propias reglas.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Hasta que no haya más reglas unitarias.</a:t>
            </a:r>
          </a:p>
          <a:p>
            <a:pPr algn="just">
              <a:buNone/>
            </a:pPr>
            <a:endParaRPr lang="es-MX" sz="1900" dirty="0">
              <a:latin typeface="Arial" pitchFamily="34" charset="0"/>
              <a:cs typeface="Arial" pitchFamily="34" charset="0"/>
            </a:endParaRPr>
          </a:p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Ejemplo (3)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Sea G una gramática definida por las siguientes reglas:</a:t>
            </a: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S::= </a:t>
            </a:r>
            <a:r>
              <a:rPr lang="es-MX" sz="26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 | C | E | CE</a:t>
            </a:r>
          </a:p>
          <a:p>
            <a:pPr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B::= </a:t>
            </a:r>
            <a:r>
              <a:rPr lang="es-MX" sz="26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C::= B</a:t>
            </a:r>
          </a:p>
          <a:p>
            <a:pPr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A::= </a:t>
            </a:r>
            <a:r>
              <a:rPr lang="es-MX" sz="26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6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 | b | B</a:t>
            </a:r>
          </a:p>
          <a:p>
            <a:pPr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E::=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endParaRPr lang="es-MX" sz="26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endParaRPr lang="es-MX" sz="26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Primero sustituiremos a B en la regla C y en la regla A.</a:t>
            </a:r>
            <a:endParaRPr lang="es-MX" sz="2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692696"/>
            <a:ext cx="8229600" cy="572149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	C::= </a:t>
            </a:r>
            <a:r>
              <a:rPr lang="es-MX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bB</a:t>
            </a:r>
            <a:r>
              <a:rPr lang="es-MX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	A::=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 | </a:t>
            </a:r>
            <a:r>
              <a:rPr lang="es-MX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bB</a:t>
            </a:r>
            <a:endParaRPr lang="es-MX" sz="30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buNone/>
            </a:pPr>
            <a:r>
              <a:rPr lang="es-MX" sz="30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Se sustituye C (ya modificada) y E en la regla S.	</a:t>
            </a: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	S::=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3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bB</a:t>
            </a:r>
            <a:r>
              <a:rPr lang="es-MX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| b |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3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3000" dirty="0" smtClean="0">
                <a:latin typeface="Arial" pitchFamily="34" charset="0"/>
                <a:cs typeface="Arial" pitchFamily="34" charset="0"/>
                <a:sym typeface="Symbol"/>
              </a:rPr>
              <a:t>|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CE</a:t>
            </a:r>
          </a:p>
          <a:p>
            <a:pPr>
              <a:buNone/>
            </a:pPr>
            <a:endParaRPr lang="es-MX" sz="3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Reglas de producción modificadas</a:t>
            </a:r>
          </a:p>
          <a:p>
            <a:pPr>
              <a:buNone/>
            </a:pPr>
            <a:endParaRPr lang="es-MX" sz="3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s-MX" sz="31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P’ </a:t>
            </a:r>
            <a:r>
              <a:rPr lang="es-MX" sz="3100" dirty="0" smtClean="0">
                <a:latin typeface="Arial" pitchFamily="34" charset="0"/>
                <a:cs typeface="Arial" pitchFamily="34" charset="0"/>
                <a:sym typeface="Symbol"/>
              </a:rPr>
              <a:t>= {</a:t>
            </a:r>
            <a:r>
              <a:rPr lang="es-MX" sz="31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b |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3000" dirty="0" smtClean="0">
                <a:latin typeface="Arial" pitchFamily="34" charset="0"/>
                <a:cs typeface="Arial" pitchFamily="34" charset="0"/>
                <a:sym typeface="Symbol"/>
              </a:rPr>
              <a:t> |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CE</a:t>
            </a:r>
          </a:p>
          <a:p>
            <a:pPr>
              <a:buNone/>
            </a:pPr>
            <a:r>
              <a:rPr lang="es-MX" sz="30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		B::=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30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		C::=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30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s-MX" sz="30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A::=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sz="3000" dirty="0" err="1" smtClean="0">
                <a:latin typeface="Arial" pitchFamily="34" charset="0"/>
                <a:cs typeface="Arial" pitchFamily="34" charset="0"/>
              </a:rPr>
              <a:t>bB</a:t>
            </a:r>
            <a:endParaRPr lang="es-MX" sz="3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30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3000" dirty="0" smtClean="0">
                <a:latin typeface="Arial" pitchFamily="34" charset="0"/>
                <a:cs typeface="Arial" pitchFamily="34" charset="0"/>
              </a:rPr>
              <a:t>		E::=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3000" dirty="0" smtClean="0">
                <a:latin typeface="Arial" pitchFamily="34" charset="0"/>
                <a:cs typeface="Arial" pitchFamily="34" charset="0"/>
                <a:sym typeface="Symbol"/>
              </a:rPr>
              <a:t>}</a:t>
            </a:r>
            <a:endParaRPr lang="es-MX" sz="3000" dirty="0" smtClean="0">
              <a:latin typeface="Arial" pitchFamily="34" charset="0"/>
              <a:cs typeface="Arial" pitchFamily="34" charset="0"/>
            </a:endParaRPr>
          </a:p>
          <a:p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6516216" y="0"/>
            <a:ext cx="2627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C | E | CE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 c |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endParaRPr lang="es-MX" dirty="0"/>
          </a:p>
        </p:txBody>
      </p:sp>
      <p:sp>
        <p:nvSpPr>
          <p:cNvPr id="5" name="4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Sea la GLC G={V,T,S,P}. Transformamos G en 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={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,T,S,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} de forma que L(G)=L(G’).</a:t>
            </a:r>
          </a:p>
          <a:p>
            <a:pPr marL="514350" indent="-514350"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1) Para cada A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V, se define el conjunto:</a:t>
            </a: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Unitario(A)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 {B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V | A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*B usando sólo reglas unitarias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}.</a:t>
            </a: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2) Inicializar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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3) Para cada variable A y cada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Unitario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(A):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Para cada regla no unitaria B::=w de P, añadir    	A::=w a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 algn="just">
              <a:buNone/>
            </a:pP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Este algoritmo también elimina reglas innecesarias.</a:t>
            </a:r>
            <a:endParaRPr lang="es-MX" sz="28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95536" y="0"/>
            <a:ext cx="4608512" cy="1052736"/>
          </a:xfrm>
        </p:spPr>
        <p:txBody>
          <a:bodyPr>
            <a:normAutofit/>
          </a:bodyPr>
          <a:lstStyle/>
          <a:p>
            <a:pPr algn="l"/>
            <a:r>
              <a:rPr lang="es-MX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s-MX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Algoritmo General</a:t>
            </a:r>
            <a:endParaRPr lang="es-MX" sz="3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120680"/>
          </a:xfrm>
        </p:spPr>
        <p:txBody>
          <a:bodyPr>
            <a:normAutofit fontScale="92500"/>
          </a:bodyPr>
          <a:lstStyle/>
          <a:p>
            <a:pPr algn="just">
              <a:buBlip>
                <a:blip r:embed="rId2"/>
              </a:buBlip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Ejemplo (4)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Sea G una gramática definida por las siguientes reglas: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S::=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C | E | </a:t>
            </a:r>
            <a:r>
              <a:rPr lang="es-MX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E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B::=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 | S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C::= B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A::=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a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E::= c |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 </a:t>
            </a:r>
            <a:endParaRPr lang="es-MX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1) Encontrar conjuntos unitarios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*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Unitario(S)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			S 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C  B  S (ya está incluido)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		E</a:t>
            </a:r>
          </a:p>
          <a:p>
            <a:pPr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Por lo tanto, Unitario(S)={S,C,E,B}.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3635896" y="5373216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260648"/>
            <a:ext cx="6588224" cy="6192688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*</a:t>
            </a:r>
            <a:r>
              <a:rPr lang="es-MX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Unitario(A) 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= {A}</a:t>
            </a:r>
          </a:p>
          <a:p>
            <a:pPr algn="just">
              <a:buNone/>
            </a:pPr>
            <a:endParaRPr lang="es-MX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*</a:t>
            </a:r>
            <a:r>
              <a:rPr lang="es-MX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Unitario(B)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			B </a:t>
            </a: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S  C  B 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	    		       E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Por lo tanto, Unitario(B)={B,S,C,E,}.</a:t>
            </a:r>
          </a:p>
          <a:p>
            <a:pPr algn="just">
              <a:buNone/>
            </a:pP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*</a:t>
            </a:r>
            <a:r>
              <a:rPr lang="es-MX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Unitario(C)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			</a:t>
            </a: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  B  S  C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		                        E</a:t>
            </a: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Por lo tanto, Unitario(C)={C,B,S,E}.</a:t>
            </a:r>
          </a:p>
          <a:p>
            <a:pPr algn="just">
              <a:buNone/>
            </a:pP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	*</a:t>
            </a:r>
            <a:r>
              <a:rPr lang="es-MX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Unitario(E) 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= {E}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6515200" y="0"/>
            <a:ext cx="262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C | E | BE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S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a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 c |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 smtClean="0">
              <a:latin typeface="Arial" pitchFamily="34" charset="0"/>
              <a:cs typeface="Arial" pitchFamily="34" charset="0"/>
              <a:sym typeface="Symbol"/>
            </a:endParaRPr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3995936" y="1988840"/>
            <a:ext cx="432048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>
            <a:off x="4788024" y="4293096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332656"/>
            <a:ext cx="7560840" cy="65253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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3) Crear reglas de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Unitario(S)={S,C,E,B}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S: 	S::=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  (por S;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 y E son reglas unitarias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nada por C 	(porque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 es regla unitaria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S:=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  	(por E)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S::=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	(por B)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endParaRPr lang="es-MX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Unitario(A) = {A}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A: 	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a	(por A)</a:t>
            </a:r>
          </a:p>
          <a:p>
            <a:pPr>
              <a:buNone/>
            </a:pPr>
            <a:endParaRPr lang="es-MX" sz="1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Unitario(B)={B,S,C,E,}.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B:	B::=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	(por B)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B::=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	(por S)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nada por C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B::=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  	(por E) </a:t>
            </a:r>
            <a:endParaRPr lang="es-MX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515200" y="0"/>
            <a:ext cx="262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C | E | BE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S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a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 c |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 smtClean="0">
              <a:latin typeface="Arial" pitchFamily="34" charset="0"/>
              <a:cs typeface="Arial" pitchFamily="34" charset="0"/>
              <a:sym typeface="Symbol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260648"/>
            <a:ext cx="6059016" cy="62646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Unitario(C)={C,B,S,E}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C:	nada por C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C::=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	(por B)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C::=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	(por S)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C::=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  	(por E) </a:t>
            </a:r>
          </a:p>
          <a:p>
            <a:pPr>
              <a:buNone/>
            </a:pP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Unitario(E) = {E}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E:	E::=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  	(por E)</a:t>
            </a:r>
          </a:p>
          <a:p>
            <a:pPr>
              <a:buNone/>
            </a:pP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Reglas de producción modificadas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P’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= {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S::=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|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 			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a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B::=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|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C::=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BE |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  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E::= c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 }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MX" dirty="0" smtClean="0"/>
          </a:p>
          <a:p>
            <a:pPr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6515200" y="0"/>
            <a:ext cx="262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C | E | BE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S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 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a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 c | </a:t>
            </a:r>
            <a:r>
              <a:rPr lang="az-Cyrl-AZ" dirty="0">
                <a:latin typeface="Arial" pitchFamily="34" charset="0"/>
                <a:cs typeface="Arial" pitchFamily="34" charset="0"/>
              </a:rPr>
              <a:t>є</a:t>
            </a:r>
            <a:endParaRPr lang="es-MX" dirty="0" smtClean="0">
              <a:latin typeface="Arial" pitchFamily="34" charset="0"/>
              <a:cs typeface="Arial" pitchFamily="34" charset="0"/>
              <a:sym typeface="Symbol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Símbolos Superfluos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925144"/>
          </a:xfrm>
        </p:spPr>
        <p:txBody>
          <a:bodyPr>
            <a:normAutofit fontScale="92500" lnSpcReduction="10000"/>
          </a:bodyPr>
          <a:lstStyle/>
          <a:p>
            <a:pPr algn="just">
              <a:buBlip>
                <a:blip r:embed="rId2"/>
              </a:buBlip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Es un símbolo No Terminal A tal que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existe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una derivación 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 *w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, donde w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 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T.</a:t>
            </a:r>
          </a:p>
          <a:p>
            <a:pPr algn="just">
              <a:buBlip>
                <a:blip r:embed="rId2"/>
              </a:buBlip>
            </a:pPr>
            <a:endParaRPr lang="es-MX" sz="26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algn="just">
              <a:buBlip>
                <a:blip r:embed="rId2"/>
              </a:buBlip>
            </a:pP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Algoritmo</a:t>
            </a:r>
          </a:p>
          <a:p>
            <a:pPr marL="514350" indent="-514350" algn="just">
              <a:buAutoNum type="arabicParenR"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Sea la GLC G={V,T,S,P}. Transformamos G en 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={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,T,S,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} de forma que L(G)=L(G’). Se construye iterativamente el nuevo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como sigue:</a:t>
            </a:r>
          </a:p>
          <a:p>
            <a:pPr marL="514350" indent="-514350"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Inicializar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V’,P’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</a:p>
          <a:p>
            <a:pPr marL="514350" indent="-514350"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Repetir</a:t>
            </a:r>
          </a:p>
          <a:p>
            <a:pPr marL="514350" indent="-514350"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	Añadir a V’ todo no terminal A para el cual 		existe    A::=</a:t>
            </a:r>
            <a:r>
              <a:rPr lang="es-MX" sz="2600" dirty="0" err="1" smtClean="0">
                <a:latin typeface="Arial" pitchFamily="34" charset="0"/>
                <a:cs typeface="Arial" pitchFamily="34" charset="0"/>
                <a:sym typeface="Symbol"/>
              </a:rPr>
              <a:t>w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600" dirty="0" err="1" smtClean="0">
                <a:latin typeface="Arial" pitchFamily="34" charset="0"/>
                <a:cs typeface="Arial" pitchFamily="34" charset="0"/>
                <a:sym typeface="Symbol"/>
              </a:rPr>
              <a:t>P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 y w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(T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)*.</a:t>
            </a:r>
          </a:p>
          <a:p>
            <a:pPr marL="514350" indent="-514350"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Hasta que no se puedan añadir más símbolos a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V’.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algn="just">
              <a:buNone/>
            </a:pP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Asignar 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todas las reglas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p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P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cuyos símbolos pertenezcan a</a:t>
            </a:r>
            <a:r>
              <a:rPr lang="es-MX" sz="2400" dirty="0" smtClean="0"/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T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V’.</a:t>
            </a:r>
          </a:p>
          <a:p>
            <a:pPr algn="just">
              <a:buNone/>
            </a:pPr>
            <a:endParaRPr lang="es-MX" sz="2400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3) Si S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, añadir S 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. </a:t>
            </a:r>
          </a:p>
          <a:p>
            <a:pPr algn="just">
              <a:buNone/>
            </a:pP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Blip>
                <a:blip r:embed="rId2"/>
              </a:buBlip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Ejemplo (5)  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Sea G una gramática definida por las siguientes reglas: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S::=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 | D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B::=b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cE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C::=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abd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E::=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 є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D::=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Db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1) Inicializar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 ;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s-MX" sz="2400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Añadir símbolos No Terminales:</a:t>
            </a:r>
          </a:p>
          <a:p>
            <a:pPr>
              <a:buNone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={B}		(por B::=b)</a:t>
            </a:r>
          </a:p>
          <a:p>
            <a:pPr>
              <a:buNone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={B,C}		(por C::=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abd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</a:t>
            </a:r>
            <a:endParaRPr lang="es-MX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={B,C,E}	(por E::=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</a:t>
            </a:r>
            <a:endParaRPr lang="es-MX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={B,C,E,S}	(por S::=B; porque 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V’) </a:t>
            </a:r>
            <a:endParaRPr lang="es-MX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 ={B,C,E,S,A}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(por A::=B; 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V’)</a:t>
            </a:r>
            <a:endParaRPr lang="es-MX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			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 ELIMINA 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D::=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Db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3) Añadir reglas 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 Reglas de producción modificadas: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= { S::=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	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         B::=b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         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cE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         C::=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abd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         E::=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 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buNone/>
            </a:pPr>
            <a:endParaRPr lang="es-MX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839744" y="0"/>
            <a:ext cx="2304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D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cE</a:t>
            </a:r>
            <a:endParaRPr lang="es-MX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abd</a:t>
            </a: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</a:t>
            </a:r>
            <a:r>
              <a:rPr lang="az-Cyrl-AZ" dirty="0">
                <a:latin typeface="Arial" pitchFamily="34" charset="0"/>
                <a:cs typeface="Arial" pitchFamily="34" charset="0"/>
              </a:rPr>
              <a:t> є</a:t>
            </a:r>
            <a:endParaRPr lang="es-MX" dirty="0">
              <a:latin typeface="Arial" pitchFamily="34" charset="0"/>
              <a:cs typeface="Arial" pitchFamily="34" charset="0"/>
              <a:sym typeface="Symbol"/>
            </a:endParaRP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D::=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Db</a:t>
            </a: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endParaRPr lang="es-MX" dirty="0"/>
          </a:p>
        </p:txBody>
      </p:sp>
      <p:sp>
        <p:nvSpPr>
          <p:cNvPr id="5" name="4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Símbolos Inaccesibles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/>
          </a:bodyPr>
          <a:lstStyle/>
          <a:p>
            <a:pPr algn="just">
              <a:buBlip>
                <a:blip r:embed="rId2"/>
              </a:buBlip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Un símbolo X (terminal o No terminal) será inaccesible si no existe una derivación:</a:t>
            </a:r>
          </a:p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	 S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* </a:t>
            </a:r>
            <a:r>
              <a:rPr lang="es-MX" sz="2600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aXb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tal que </a:t>
            </a:r>
            <a:r>
              <a:rPr lang="es-MX" sz="2600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a,b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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(V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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T)*</a:t>
            </a:r>
          </a:p>
          <a:p>
            <a:pPr algn="just">
              <a:buBlip>
                <a:blip r:embed="rId2"/>
              </a:buBlip>
            </a:pPr>
            <a:endParaRPr lang="es-MX" sz="2600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algn="just">
              <a:buBlip>
                <a:blip r:embed="rId2"/>
              </a:buBlip>
            </a:pP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Algoritmo</a:t>
            </a:r>
          </a:p>
          <a:p>
            <a:pPr marL="514350" indent="-514350"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Sea la GLC G={V,T,S,P}. Transformamos G en 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={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,S,</a:t>
            </a:r>
            <a:r>
              <a:rPr lang="es-MX" sz="2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} de forma que L(G)=L(G’). Se construye iterativamente el nuevo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V’,T’</a:t>
            </a:r>
            <a:r>
              <a:rPr lang="es-MX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como sigue:</a:t>
            </a:r>
          </a:p>
          <a:p>
            <a:pPr marL="514350" indent="-514350"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		</a:t>
            </a:r>
          </a:p>
          <a:p>
            <a:pPr marL="514350" indent="-514350"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1) Inicializar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de forma que contenga el axioma S, e inicializar 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T’ 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</a:p>
          <a:p>
            <a:pPr algn="just"/>
            <a:endParaRPr lang="es-MX" sz="2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Repetir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  Para A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y reglas 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w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P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2.1 Introducir A::=w en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2.2 Para todo No Terminal B de w, introducir B en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2.3 Para todo terminal a de w, introducir a en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Hasta que no se puedan añadir nuevas reglas 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Blip>
                <a:blip r:embed="rId2"/>
              </a:buBlip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Ejemplo (6)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Sea G una gramática definida por las siguientes reglas: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S::=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B::=b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A::=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cE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</a:t>
            </a: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C::=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abd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	E::=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 є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G’={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,S,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}		</a:t>
            </a:r>
          </a:p>
          <a:p>
            <a:pPr algn="just"/>
            <a:endParaRPr lang="es-MX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5688632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arenR"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Inicializar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 {S};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;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T’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=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.</a:t>
            </a:r>
          </a:p>
          <a:p>
            <a:pPr marL="514350" indent="-514350" algn="just">
              <a:buAutoNum type="arabicParenR"/>
            </a:pPr>
            <a:endParaRPr lang="es-MX" sz="28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2) Añadir reglas y símbolos:</a:t>
            </a:r>
          </a:p>
          <a:p>
            <a:pPr marL="514350" indent="-514350"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Aa|B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};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={S,A,B};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={a}.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Aa|B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, A::=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Aa|bA|B|cE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};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={S,A,B,E}; 	  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a,b,c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}.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={S::=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B, A::=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Aa|bA|B|cE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, B::=b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}; 	    	   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={S,A,B,E}; 	  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a,b,c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}.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={S::=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B, A::=Aa|bA|B|cE, B::=b, E::=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}; 	   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V’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={S,A,B,E}; 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T’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={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a,b,c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		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			</a:t>
            </a:r>
          </a:p>
          <a:p>
            <a:pPr marL="514350" indent="-514350" algn="just">
              <a:buNone/>
            </a:pPr>
            <a:r>
              <a:rPr lang="es-MX" sz="28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		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SE ELIMINA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C::=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abd</a:t>
            </a:r>
            <a:endParaRPr lang="es-MX" sz="2800" dirty="0" smtClean="0">
              <a:latin typeface="Arial" pitchFamily="34" charset="0"/>
              <a:cs typeface="Arial" pitchFamily="34" charset="0"/>
              <a:sym typeface="Symbol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911752" y="0"/>
            <a:ext cx="2232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	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B::=b</a:t>
            </a: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A::=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dirty="0" smtClean="0">
                <a:latin typeface="Arial" pitchFamily="34" charset="0"/>
                <a:cs typeface="Arial" pitchFamily="34" charset="0"/>
              </a:rPr>
              <a:t> | B | 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cE</a:t>
            </a:r>
            <a:endParaRPr lang="es-MX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C::=</a:t>
            </a:r>
            <a:r>
              <a:rPr lang="es-MX" dirty="0" err="1" smtClean="0">
                <a:latin typeface="Arial" pitchFamily="34" charset="0"/>
                <a:cs typeface="Arial" pitchFamily="34" charset="0"/>
              </a:rPr>
              <a:t>abd</a:t>
            </a:r>
            <a:endParaRPr lang="es-MX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dirty="0" smtClean="0">
                <a:latin typeface="Arial" pitchFamily="34" charset="0"/>
                <a:cs typeface="Arial" pitchFamily="34" charset="0"/>
              </a:rPr>
              <a:t>E::=</a:t>
            </a:r>
            <a:r>
              <a:rPr lang="az-Cyrl-AZ" dirty="0">
                <a:latin typeface="Arial" pitchFamily="34" charset="0"/>
                <a:cs typeface="Arial" pitchFamily="34" charset="0"/>
              </a:rPr>
              <a:t> є</a:t>
            </a:r>
            <a:endParaRPr lang="es-MX" dirty="0" smtClean="0">
              <a:latin typeface="Arial" pitchFamily="34" charset="0"/>
              <a:cs typeface="Arial" pitchFamily="34" charset="0"/>
            </a:endParaRPr>
          </a:p>
          <a:p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476672"/>
            <a:ext cx="8136904" cy="561662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Reglas de producción modificadas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s-MX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P’ 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= {	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S::=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	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A::=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800" dirty="0" err="1" smtClean="0">
                <a:latin typeface="Arial" pitchFamily="34" charset="0"/>
                <a:cs typeface="Arial" pitchFamily="34" charset="0"/>
              </a:rPr>
              <a:t>bA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 | B | Ce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B::=b</a:t>
            </a:r>
          </a:p>
          <a:p>
            <a:pPr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		E::=</a:t>
            </a:r>
            <a:r>
              <a:rPr lang="az-Cyrl-AZ" sz="2800" dirty="0">
                <a:latin typeface="Arial" pitchFamily="34" charset="0"/>
                <a:cs typeface="Arial" pitchFamily="34" charset="0"/>
              </a:rPr>
              <a:t> є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 }</a:t>
            </a: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Hasta aquí se obtiene una gramática bien formada eliminando las redundancias mencionadas.</a:t>
            </a:r>
          </a:p>
          <a:p>
            <a:pPr algn="just">
              <a:buNone/>
            </a:pPr>
            <a:endParaRPr lang="es-MX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A continuación veremos cómo normalizar una gramática por Chomsky.</a:t>
            </a:r>
            <a:endParaRPr lang="es-MX" sz="28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Forma Normal de Chomsky (FNC)</a:t>
            </a:r>
            <a:endParaRPr lang="es-MX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85313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Una GLC está en la FNC si cada una de sus producciones es de los siguientes 2 tipos:</a:t>
            </a:r>
          </a:p>
          <a:p>
            <a:pPr algn="just">
              <a:buFont typeface="Wingdings" pitchFamily="2" charset="2"/>
              <a:buChar char="§"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 a</a:t>
            </a:r>
          </a:p>
          <a:p>
            <a:pPr algn="just">
              <a:buFont typeface="Wingdings" pitchFamily="2" charset="2"/>
              <a:buChar char="§"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A  BC</a:t>
            </a:r>
          </a:p>
          <a:p>
            <a:pPr algn="just">
              <a:buFont typeface="Wingdings" pitchFamily="2" charset="2"/>
              <a:buChar char="§"/>
            </a:pP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S 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	donde A,B,C son variables No Terminales (V), a es un símbolo terminal (T) y S es el axioma.</a:t>
            </a:r>
          </a:p>
          <a:p>
            <a:pPr algn="just">
              <a:buNone/>
            </a:pPr>
            <a:endParaRPr lang="es-MX" sz="24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T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eorema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: “Cualquier GLC sin 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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-producciones puede ser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transformada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a una gramática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equivalente en donde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las producciones son de la forma A </a:t>
            </a:r>
            <a:r>
              <a:rPr lang="es-MX" sz="2400" dirty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 BC o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s-MX" sz="2400" dirty="0">
                <a:latin typeface="Arial" pitchFamily="34" charset="0"/>
                <a:cs typeface="Arial" pitchFamily="34" charset="0"/>
                <a:sym typeface="Wingdings"/>
              </a:rPr>
              <a:t>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a.</a:t>
            </a:r>
            <a:endParaRPr lang="es-MX" sz="24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88640"/>
            <a:ext cx="8748464" cy="6192688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sz="2400" dirty="0" smtClean="0">
                <a:latin typeface="Arial" pitchFamily="34" charset="0"/>
                <a:cs typeface="Arial" pitchFamily="34" charset="0"/>
              </a:rPr>
              <a:t>Algoritmo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Sea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A→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X1|X2|…|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Xm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en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P.</a:t>
            </a: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1) Crear producciones del tipo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→ 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adecuadamente.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Si Xi es Terminal y Xi = a entonces agregamos a 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la producción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 → a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y remplazamos Xi por Ca.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Entonces todas las producciones son de forma: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A→ B1|B2|…|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Bm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y A →a</a:t>
            </a:r>
          </a:p>
          <a:p>
            <a:pPr algn="just">
              <a:buNone/>
            </a:pP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2) Se crean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producciones </a:t>
            </a:r>
            <a:r>
              <a:rPr lang="es-MX" sz="2400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→ BC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adecuadamente. 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Para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los casos en que m ≥ 3, hacemos: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A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→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B1|D1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; D1→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B2|D2;…,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Dm-2→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Bm-1|Bm</a:t>
            </a: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3) Agregamos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las respectivas variables y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producciones (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P’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).</a:t>
            </a: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s-MX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es-MX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’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= V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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{D1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, D2 …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Dm-2}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323528" y="6309320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sz="1400" i="1" u="sng" dirty="0" smtClean="0">
                <a:latin typeface="Arial" pitchFamily="34" charset="0"/>
                <a:cs typeface="Arial" pitchFamily="34" charset="0"/>
              </a:rPr>
              <a:t>Tema 4 – GLC.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 lnSpcReduction="10000"/>
          </a:bodyPr>
          <a:lstStyle/>
          <a:p>
            <a:pPr algn="just">
              <a:buBlip>
                <a:blip r:embed="rId2"/>
              </a:buBlip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Ejemplo (7)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Sea G una gramática bien formada definida por las siguientes reglas: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S::= AB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aSb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aAB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aB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| a | b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endParaRPr lang="es-MX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A::=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aAB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aB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aA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a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B::=</a:t>
            </a:r>
            <a:r>
              <a:rPr lang="es-MX" sz="2400" dirty="0" err="1" smtClean="0">
                <a:latin typeface="Arial" pitchFamily="34" charset="0"/>
                <a:cs typeface="Arial" pitchFamily="34" charset="0"/>
                <a:sym typeface="Symbol"/>
              </a:rPr>
              <a:t>Bb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| b</a:t>
            </a:r>
          </a:p>
          <a:p>
            <a:pPr algn="just">
              <a:buNone/>
            </a:pPr>
            <a:endParaRPr lang="es-MX" sz="2400" dirty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1) Crear 2 nuevos símbolos No Terminales siguiendo la regla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→ a.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 </a:t>
            </a:r>
          </a:p>
          <a:p>
            <a:pPr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	C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a  y   D  b</a:t>
            </a:r>
          </a:p>
          <a:p>
            <a:pPr algn="just">
              <a:buNone/>
            </a:pPr>
            <a:endParaRPr lang="es-MX" sz="240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Reemplazando: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S::= AB | CSD |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AB |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B | 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 | BD | a | b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endParaRPr lang="es-MX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A::= 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AB | 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B | </a:t>
            </a:r>
            <a:r>
              <a:rPr lang="es-MX" sz="2400" dirty="0"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A | a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B::=BD | b</a:t>
            </a: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76064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2) Crear 2 nuevos símbolos No Terminales siguiendo la regla </a:t>
            </a:r>
            <a:r>
              <a:rPr lang="es-MX" sz="24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→ BC.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>
              <a:buNone/>
            </a:pP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			E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SD  y   F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AB </a:t>
            </a:r>
          </a:p>
          <a:p>
            <a:pPr algn="just">
              <a:buNone/>
            </a:pPr>
            <a:endParaRPr lang="es-MX" sz="2400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Reemplazando: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S::= AB | CE | CF | CB | CA | BD | a | b |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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A::= CF | CB | CA | a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B::= BD | b</a:t>
            </a:r>
          </a:p>
          <a:p>
            <a:pPr algn="just">
              <a:buNone/>
            </a:pPr>
            <a:endParaRPr lang="es-MX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3) Nuevas Producciones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Symbol"/>
              </a:rPr>
              <a:t>		C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a 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D  b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		E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SD   </a:t>
            </a:r>
          </a:p>
          <a:p>
            <a:pPr algn="just">
              <a:buNone/>
            </a:pPr>
            <a:r>
              <a:rPr lang="es-MX" sz="2400" dirty="0" smtClean="0">
                <a:latin typeface="Arial" pitchFamily="34" charset="0"/>
                <a:cs typeface="Arial" pitchFamily="34" charset="0"/>
              </a:rPr>
              <a:t> 		F </a:t>
            </a:r>
            <a:r>
              <a:rPr lang="es-MX" sz="24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</a:t>
            </a:r>
            <a:r>
              <a:rPr lang="es-MX" sz="2400" dirty="0" smtClean="0">
                <a:latin typeface="Arial" pitchFamily="34" charset="0"/>
                <a:cs typeface="Arial" pitchFamily="34" charset="0"/>
              </a:rPr>
              <a:t>AB</a:t>
            </a:r>
            <a:endParaRPr lang="es-MX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4932040" y="0"/>
            <a:ext cx="4211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S::= AB | CSD | CAB | CB | CA | BD | a | b | </a:t>
            </a:r>
            <a:r>
              <a:rPr lang="az-Cyrl-AZ" sz="1600" dirty="0">
                <a:latin typeface="Arial" pitchFamily="34" charset="0"/>
                <a:cs typeface="Arial" pitchFamily="34" charset="0"/>
              </a:rPr>
              <a:t>є</a:t>
            </a:r>
            <a:endParaRPr lang="es-MX" sz="16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  <a:sym typeface="Symbol"/>
              </a:rPr>
              <a:t>A::= CAB | CB | CA | a</a:t>
            </a:r>
          </a:p>
          <a:p>
            <a:pPr algn="just"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  <a:sym typeface="Symbol"/>
              </a:rPr>
              <a:t>B::=BD | b</a:t>
            </a:r>
          </a:p>
          <a:p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Gramática Normalizada por Chomsky.</a:t>
            </a:r>
          </a:p>
          <a:p>
            <a:pPr algn="just">
              <a:buNone/>
            </a:pP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P’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= {	S::= AB | CE | CF | CB | CA | BD | a | b | </a:t>
            </a:r>
            <a:r>
              <a:rPr lang="az-Cyrl-AZ" sz="2400" dirty="0">
                <a:latin typeface="Arial" pitchFamily="34" charset="0"/>
                <a:cs typeface="Arial" pitchFamily="34" charset="0"/>
              </a:rPr>
              <a:t>є</a:t>
            </a:r>
            <a:endParaRPr lang="es-MX" sz="26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		A::= CF | CB | CA | a</a:t>
            </a:r>
          </a:p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		B::= BD | b</a:t>
            </a:r>
          </a:p>
          <a:p>
            <a:pPr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  <a:sym typeface="Symbol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		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E::=S | D   </a:t>
            </a:r>
          </a:p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</a:rPr>
              <a:t> 			F::=A | B</a:t>
            </a:r>
          </a:p>
          <a:p>
            <a:pPr algn="just">
              <a:buNone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Symbol"/>
              </a:rPr>
              <a:t>C::</a:t>
            </a: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=a </a:t>
            </a:r>
          </a:p>
          <a:p>
            <a:pPr algn="just">
              <a:buNone/>
            </a:pPr>
            <a:r>
              <a:rPr lang="es-MX" sz="2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		D::=b  }</a:t>
            </a:r>
          </a:p>
          <a:p>
            <a:pPr algn="just">
              <a:buNone/>
            </a:pPr>
            <a:endParaRPr lang="es-MX" sz="1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s-MX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V’</a:t>
            </a:r>
            <a:r>
              <a:rPr lang="es-MX" sz="2600" dirty="0" smtClean="0">
                <a:latin typeface="Arial" pitchFamily="34" charset="0"/>
                <a:cs typeface="Arial" pitchFamily="34" charset="0"/>
              </a:rPr>
              <a:t>={S,A,B,E,F,C,D}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	T={</a:t>
            </a:r>
            <a:r>
              <a:rPr lang="es-MX" sz="2800" dirty="0" err="1" smtClean="0">
                <a:latin typeface="Arial" pitchFamily="34" charset="0"/>
                <a:cs typeface="Arial" pitchFamily="34" charset="0"/>
                <a:sym typeface="Symbol"/>
              </a:rPr>
              <a:t>a,b</a:t>
            </a:r>
            <a:r>
              <a:rPr lang="es-MX" sz="2800" dirty="0" smtClean="0">
                <a:latin typeface="Arial" pitchFamily="34" charset="0"/>
                <a:cs typeface="Arial" pitchFamily="34" charset="0"/>
                <a:sym typeface="Symbol"/>
              </a:rPr>
              <a:t>}</a:t>
            </a:r>
          </a:p>
          <a:p>
            <a:pPr algn="just"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	S={S}</a:t>
            </a:r>
            <a:endParaRPr lang="es-MX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23528" y="630932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i="1" dirty="0" smtClean="0">
                <a:latin typeface="Arial" pitchFamily="34" charset="0"/>
                <a:cs typeface="Arial" pitchFamily="34" charset="0"/>
              </a:rPr>
              <a:t>FUENTE: 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Apuntes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4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400" dirty="0" smtClean="0">
                <a:latin typeface="Arial" pitchFamily="34" charset="0"/>
                <a:cs typeface="Arial" pitchFamily="34" charset="0"/>
              </a:rPr>
              <a:t> Contreras Zambrano. </a:t>
            </a:r>
            <a:r>
              <a:rPr lang="es-MX" dirty="0" smtClean="0"/>
              <a:t> </a:t>
            </a:r>
            <a:endParaRPr lang="es-MX" dirty="0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Fuentes</a:t>
            </a:r>
            <a:r>
              <a:rPr lang="es-MX" dirty="0" smtClean="0"/>
              <a:t> </a:t>
            </a:r>
            <a:r>
              <a:rPr lang="es-MX" sz="4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Bibliográficas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752528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MX" sz="1600" dirty="0">
                <a:latin typeface="Arial" pitchFamily="34" charset="0"/>
                <a:cs typeface="Arial" pitchFamily="34" charset="0"/>
              </a:rPr>
              <a:t>[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]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	A.V.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Aho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, J.E.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Hopcroft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, and J.D.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Ullman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(1974). </a:t>
            </a:r>
            <a:r>
              <a:rPr lang="es-MX" sz="1600" i="1" u="sng" dirty="0" err="1" smtClean="0">
                <a:latin typeface="Arial" pitchFamily="34" charset="0"/>
                <a:cs typeface="Arial" pitchFamily="34" charset="0"/>
              </a:rPr>
              <a:t>The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1600" i="1" u="sng" dirty="0" err="1" smtClean="0">
                <a:latin typeface="Arial" pitchFamily="34" charset="0"/>
                <a:cs typeface="Arial" pitchFamily="34" charset="0"/>
              </a:rPr>
              <a:t>Design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s-MX" sz="1600" i="1" u="sng" dirty="0" err="1" smtClean="0">
                <a:latin typeface="Arial" pitchFamily="34" charset="0"/>
                <a:cs typeface="Arial" pitchFamily="34" charset="0"/>
              </a:rPr>
              <a:t>Analysis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s-MX" sz="1600" i="1" u="sng" dirty="0" err="1" smtClean="0">
                <a:latin typeface="Arial" pitchFamily="34" charset="0"/>
                <a:cs typeface="Arial" pitchFamily="34" charset="0"/>
              </a:rPr>
              <a:t>Computer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MX" sz="1600" i="1" u="sng" dirty="0" err="1" smtClean="0">
                <a:latin typeface="Arial" pitchFamily="34" charset="0"/>
                <a:cs typeface="Arial" pitchFamily="34" charset="0"/>
              </a:rPr>
              <a:t>Algorithms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Addison-Wesley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[2]	Copias de apuntes de la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Profa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Hilda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 Contreras Zambrano.</a:t>
            </a:r>
          </a:p>
          <a:p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[3]	Contreras Zambrano Hilda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(Abril, 2014). 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Tema 4 – GLC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s-MX" sz="1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PDF recuperado de: http://webdelprofesor.ula.ve/ingenieria/hyelitza/materias/preteoria/apuntes/tema4.pdf</a:t>
            </a:r>
          </a:p>
          <a:p>
            <a:pPr>
              <a:buNone/>
            </a:pPr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[4]	Contreras Zambrano Hilda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(Abril, 2014). 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Unidad 2 – GIC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buNone/>
            </a:pPr>
            <a:r>
              <a:rPr lang="es-MX" sz="1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PDF recuperado de:  http://webdelprofesor.ula.ve/ingenieria/hyelitza/materias/preteoria/unidad2/glc.pdf</a:t>
            </a:r>
          </a:p>
          <a:p>
            <a:pPr>
              <a:buNone/>
            </a:pPr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[5]	Apuntes y ejercicios realizados en Clase.</a:t>
            </a:r>
          </a:p>
          <a:p>
            <a:endParaRPr lang="es-MX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s-MX" sz="1600" dirty="0" smtClean="0">
                <a:latin typeface="Arial" pitchFamily="34" charset="0"/>
                <a:cs typeface="Arial" pitchFamily="34" charset="0"/>
              </a:rPr>
              <a:t>[6]	Contreras Zambrano Hilda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Yelitza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(Abril, 2014). </a:t>
            </a:r>
            <a:r>
              <a:rPr lang="es-MX" sz="1600" i="1" u="sng" dirty="0" smtClean="0">
                <a:latin typeface="Arial" pitchFamily="34" charset="0"/>
                <a:cs typeface="Arial" pitchFamily="34" charset="0"/>
              </a:rPr>
              <a:t>GLC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buNone/>
            </a:pPr>
            <a:r>
              <a:rPr lang="es-MX" sz="1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Video de </a:t>
            </a:r>
            <a:r>
              <a:rPr lang="es-MX" sz="1600" dirty="0" err="1" smtClean="0">
                <a:latin typeface="Arial" pitchFamily="34" charset="0"/>
                <a:cs typeface="Arial" pitchFamily="34" charset="0"/>
              </a:rPr>
              <a:t>Youtube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s-MX" sz="1600" dirty="0" smtClean="0">
                <a:latin typeface="Arial" pitchFamily="34" charset="0"/>
                <a:cs typeface="Arial" pitchFamily="34" charset="0"/>
              </a:rPr>
              <a:t>recuperado </a:t>
            </a:r>
            <a:r>
              <a:rPr lang="es-MX" sz="1600" dirty="0">
                <a:latin typeface="Arial" pitchFamily="34" charset="0"/>
                <a:cs typeface="Arial" pitchFamily="34" charset="0"/>
              </a:rPr>
              <a:t>de: http://www.youtube.com/watch?v=V8a2-O20Ebo </a:t>
            </a: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833</Words>
  <Application>Microsoft Office PowerPoint</Application>
  <PresentationFormat>Presentación en pantalla (4:3)</PresentationFormat>
  <Paragraphs>399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Tema de Office</vt:lpstr>
      <vt:lpstr>Conversión de Gramáticas Libres de Contexto</vt:lpstr>
      <vt:lpstr>Objetivo</vt:lpstr>
      <vt:lpstr>Presentación de PowerPoint</vt:lpstr>
      <vt:lpstr>Gramática Libre de Contexto (GLC)</vt:lpstr>
      <vt:lpstr>Gramática Limpia</vt:lpstr>
      <vt:lpstr>Conversión a Gramática  Bien Formada</vt:lpstr>
      <vt:lpstr>Reglas innecesarias</vt:lpstr>
      <vt:lpstr>Reglas No Generativas</vt:lpstr>
      <vt:lpstr>Presentación de PowerPoint</vt:lpstr>
      <vt:lpstr>Presentación de PowerPoint</vt:lpstr>
      <vt:lpstr>Presentación de PowerPoint</vt:lpstr>
      <vt:lpstr>Presentación de PowerPoint</vt:lpstr>
      <vt:lpstr>Reglas No Generativas</vt:lpstr>
      <vt:lpstr>1) Algoritmo Simple</vt:lpstr>
      <vt:lpstr>Presentación de PowerPoint</vt:lpstr>
      <vt:lpstr>2) Algoritmo General</vt:lpstr>
      <vt:lpstr>Presentación de PowerPoint</vt:lpstr>
      <vt:lpstr>Presentación de PowerPoint</vt:lpstr>
      <vt:lpstr>Presentación de PowerPoint</vt:lpstr>
      <vt:lpstr>Presentación de PowerPoint</vt:lpstr>
      <vt:lpstr>Símbolos Superfluos</vt:lpstr>
      <vt:lpstr>Presentación de PowerPoint</vt:lpstr>
      <vt:lpstr>Presentación de PowerPoint</vt:lpstr>
      <vt:lpstr>Símbolos Inaccesibles</vt:lpstr>
      <vt:lpstr>Presentación de PowerPoint</vt:lpstr>
      <vt:lpstr>Presentación de PowerPoint</vt:lpstr>
      <vt:lpstr>Presentación de PowerPoint</vt:lpstr>
      <vt:lpstr>Forma Normal de Chomsky (FNC)</vt:lpstr>
      <vt:lpstr>Presentación de PowerPoint</vt:lpstr>
      <vt:lpstr>Presentación de PowerPoint</vt:lpstr>
      <vt:lpstr>Presentación de PowerPoint</vt:lpstr>
      <vt:lpstr>Presentación de PowerPoint</vt:lpstr>
      <vt:lpstr>Fuentes Bibliográficas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Gramáticas Libres Contexto</dc:title>
  <dc:creator>Valery</dc:creator>
  <cp:lastModifiedBy>SARA</cp:lastModifiedBy>
  <cp:revision>270</cp:revision>
  <dcterms:created xsi:type="dcterms:W3CDTF">2014-05-18T17:07:58Z</dcterms:created>
  <dcterms:modified xsi:type="dcterms:W3CDTF">2017-05-10T02:45:15Z</dcterms:modified>
</cp:coreProperties>
</file>