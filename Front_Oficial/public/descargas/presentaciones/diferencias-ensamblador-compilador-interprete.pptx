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343" r:id="rId3"/>
    <p:sldId id="320" r:id="rId4"/>
    <p:sldId id="321" r:id="rId5"/>
    <p:sldId id="322" r:id="rId6"/>
    <p:sldId id="323" r:id="rId7"/>
    <p:sldId id="324" r:id="rId8"/>
    <p:sldId id="325" r:id="rId9"/>
    <p:sldId id="326" r:id="rId10"/>
    <p:sldId id="327" r:id="rId11"/>
    <p:sldId id="328" r:id="rId12"/>
    <p:sldId id="329" r:id="rId13"/>
    <p:sldId id="331" r:id="rId14"/>
    <p:sldId id="332" r:id="rId15"/>
    <p:sldId id="333" r:id="rId16"/>
    <p:sldId id="334" r:id="rId17"/>
    <p:sldId id="336" r:id="rId18"/>
    <p:sldId id="335" r:id="rId19"/>
    <p:sldId id="337" r:id="rId20"/>
    <p:sldId id="338" r:id="rId21"/>
    <p:sldId id="340" r:id="rId22"/>
    <p:sldId id="339" r:id="rId23"/>
    <p:sldId id="341" r:id="rId24"/>
    <p:sldId id="342" r:id="rId25"/>
    <p:sldId id="281" r:id="rId26"/>
  </p:sldIdLst>
  <p:sldSz cx="9144000" cy="6858000" type="screen4x3"/>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B866988D-FE7F-4DE6-964B-19744BBAF374}">
          <p14:sldIdLst>
            <p14:sldId id="256"/>
            <p14:sldId id="343"/>
            <p14:sldId id="320"/>
            <p14:sldId id="321"/>
            <p14:sldId id="322"/>
            <p14:sldId id="323"/>
            <p14:sldId id="324"/>
            <p14:sldId id="325"/>
            <p14:sldId id="326"/>
            <p14:sldId id="327"/>
            <p14:sldId id="328"/>
            <p14:sldId id="329"/>
            <p14:sldId id="331"/>
            <p14:sldId id="332"/>
            <p14:sldId id="333"/>
            <p14:sldId id="334"/>
            <p14:sldId id="336"/>
            <p14:sldId id="335"/>
            <p14:sldId id="337"/>
            <p14:sldId id="338"/>
            <p14:sldId id="340"/>
            <p14:sldId id="339"/>
            <p14:sldId id="341"/>
            <p14:sldId id="342"/>
          </p14:sldIdLst>
        </p14:section>
        <p14:section name="Sección sin título" id="{60BD22C9-27C4-4A02-A7AE-D69F80856F59}">
          <p14:sldIdLst>
            <p14:sldId id="28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6912" autoAdjust="0"/>
    <p:restoredTop sz="94660"/>
  </p:normalViewPr>
  <p:slideViewPr>
    <p:cSldViewPr>
      <p:cViewPr varScale="1">
        <p:scale>
          <a:sx n="59" d="100"/>
          <a:sy n="59" d="100"/>
        </p:scale>
        <p:origin x="796"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4830383-1F44-4082-97D7-C104A899ABAF}" type="datetimeFigureOut">
              <a:rPr lang="es-MX" smtClean="0"/>
              <a:t>17/04/2026</a:t>
            </a:fld>
            <a:endParaRPr lang="es-MX"/>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MX"/>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B59FE45-330E-4B74-9475-58D7E26D3FB6}" type="slidenum">
              <a:rPr lang="es-MX" smtClean="0"/>
              <a:t>‹Nº›</a:t>
            </a:fld>
            <a:endParaRPr lang="es-MX"/>
          </a:p>
        </p:txBody>
      </p:sp>
    </p:spTree>
    <p:extLst>
      <p:ext uri="{BB962C8B-B14F-4D97-AF65-F5344CB8AC3E}">
        <p14:creationId xmlns:p14="http://schemas.microsoft.com/office/powerpoint/2010/main" val="4024198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C5CAAA72-5F0C-4208-97A9-9D643455F947}" type="datetimeFigureOut">
              <a:rPr lang="es-MX" smtClean="0"/>
              <a:pPr/>
              <a:t>17/04/2026</a:t>
            </a:fld>
            <a:endParaRPr lang="es-MX"/>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s-MX"/>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F607EF64-5906-4921-8810-5E06B7DA6E12}" type="slidenum">
              <a:rPr lang="es-MX" smtClean="0"/>
              <a:pPr/>
              <a:t>‹Nº›</a:t>
            </a:fld>
            <a:endParaRPr lang="es-MX"/>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5CAAA72-5F0C-4208-97A9-9D643455F947}" type="datetimeFigureOut">
              <a:rPr lang="es-MX" smtClean="0"/>
              <a:pPr/>
              <a:t>17/04/2026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F607EF64-5906-4921-8810-5E06B7DA6E12}" type="slidenum">
              <a:rPr lang="es-MX" smtClean="0"/>
              <a:pPr/>
              <a:t>‹Nº›</a:t>
            </a:fld>
            <a:endParaRPr lang="es-MX"/>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5CAAA72-5F0C-4208-97A9-9D643455F947}" type="datetimeFigureOut">
              <a:rPr lang="es-MX" smtClean="0"/>
              <a:pPr/>
              <a:t>17/04/2026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F607EF64-5906-4921-8810-5E06B7DA6E12}" type="slidenum">
              <a:rPr lang="es-MX" smtClean="0"/>
              <a:pPr/>
              <a:t>‹Nº›</a:t>
            </a:fld>
            <a:endParaRPr lang="es-MX"/>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5" name="Date Placeholder 4"/>
          <p:cNvSpPr>
            <a:spLocks noGrp="1"/>
          </p:cNvSpPr>
          <p:nvPr>
            <p:ph type="dt" sz="half" idx="10"/>
          </p:nvPr>
        </p:nvSpPr>
        <p:spPr/>
        <p:txBody>
          <a:bodyPr/>
          <a:lstStyle/>
          <a:p>
            <a:fld id="{C5CAAA72-5F0C-4208-97A9-9D643455F947}" type="datetimeFigureOut">
              <a:rPr lang="es-MX" smtClean="0"/>
              <a:pPr/>
              <a:t>17/04/2026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F607EF64-5906-4921-8810-5E06B7DA6E12}" type="slidenum">
              <a:rPr lang="es-MX" smtClean="0"/>
              <a:pPr/>
              <a:t>‹Nº›</a:t>
            </a:fld>
            <a:endParaRPr lang="es-MX"/>
          </a:p>
        </p:txBody>
      </p:sp>
      <p:sp>
        <p:nvSpPr>
          <p:cNvPr id="9" name="Content Placeholder 8"/>
          <p:cNvSpPr>
            <a:spLocks noGrp="1"/>
          </p:cNvSpPr>
          <p:nvPr>
            <p:ph sz="quarter" idx="13"/>
          </p:nvPr>
        </p:nvSpPr>
        <p:spPr>
          <a:xfrm>
            <a:off x="1042416" y="2313432"/>
            <a:ext cx="3419856" cy="349300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5CAAA72-5F0C-4208-97A9-9D643455F947}" type="datetimeFigureOut">
              <a:rPr lang="es-MX" smtClean="0"/>
              <a:pPr/>
              <a:t>17/04/2026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F607EF64-5906-4921-8810-5E06B7DA6E12}" type="slidenum">
              <a:rPr lang="es-MX" smtClean="0"/>
              <a:pPr/>
              <a:t>‹Nº›</a:t>
            </a:fld>
            <a:endParaRPr lang="es-MX"/>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Date Placeholder 2"/>
          <p:cNvSpPr>
            <a:spLocks noGrp="1"/>
          </p:cNvSpPr>
          <p:nvPr>
            <p:ph type="dt" sz="half" idx="10"/>
          </p:nvPr>
        </p:nvSpPr>
        <p:spPr/>
        <p:txBody>
          <a:bodyPr/>
          <a:lstStyle/>
          <a:p>
            <a:fld id="{C5CAAA72-5F0C-4208-97A9-9D643455F947}" type="datetimeFigureOut">
              <a:rPr lang="es-MX" smtClean="0"/>
              <a:pPr/>
              <a:t>17/04/2026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F607EF64-5906-4921-8810-5E06B7DA6E12}" type="slidenum">
              <a:rPr lang="es-MX" smtClean="0"/>
              <a:pPr/>
              <a:t>‹Nº›</a:t>
            </a:fld>
            <a:endParaRPr lang="es-MX"/>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CAAA72-5F0C-4208-97A9-9D643455F947}" type="datetimeFigureOut">
              <a:rPr lang="es-MX" smtClean="0"/>
              <a:pPr/>
              <a:t>17/04/2026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F607EF64-5906-4921-8810-5E06B7DA6E12}" type="slidenum">
              <a:rPr lang="es-MX" smtClean="0"/>
              <a:pPr/>
              <a:t>‹Nº›</a:t>
            </a:fld>
            <a:endParaRPr lang="es-MX"/>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C5CAAA72-5F0C-4208-97A9-9D643455F947}" type="datetimeFigureOut">
              <a:rPr lang="es-MX" smtClean="0"/>
              <a:pPr/>
              <a:t>17/04/2026</a:t>
            </a:fld>
            <a:endParaRPr lang="es-MX"/>
          </a:p>
        </p:txBody>
      </p:sp>
      <p:sp>
        <p:nvSpPr>
          <p:cNvPr id="7" name="Slide Number Placeholder 6"/>
          <p:cNvSpPr>
            <a:spLocks noGrp="1"/>
          </p:cNvSpPr>
          <p:nvPr>
            <p:ph type="sldNum" sz="quarter" idx="12"/>
          </p:nvPr>
        </p:nvSpPr>
        <p:spPr/>
        <p:txBody>
          <a:bodyPr/>
          <a:lstStyle/>
          <a:p>
            <a:fld id="{F607EF64-5906-4921-8810-5E06B7DA6E12}" type="slidenum">
              <a:rPr lang="es-MX" smtClean="0"/>
              <a:pPr/>
              <a:t>‹Nº›</a:t>
            </a:fld>
            <a:endParaRPr lang="es-MX"/>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s-MX"/>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s-ES"/>
              <a:t>Haga clic para modificar el estilo de título del patrón</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s-ES"/>
              <a:t>Haga clic para modificar el estilo de título del patrón</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C5CAAA72-5F0C-4208-97A9-9D643455F947}" type="datetimeFigureOut">
              <a:rPr lang="es-MX" smtClean="0"/>
              <a:pPr/>
              <a:t>17/04/2026</a:t>
            </a:fld>
            <a:endParaRPr lang="es-MX"/>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s-MX"/>
          </a:p>
        </p:txBody>
      </p:sp>
      <p:sp>
        <p:nvSpPr>
          <p:cNvPr id="7" name="Slide Number Placeholder 6"/>
          <p:cNvSpPr>
            <a:spLocks noGrp="1"/>
          </p:cNvSpPr>
          <p:nvPr>
            <p:ph type="sldNum" sz="quarter" idx="12"/>
          </p:nvPr>
        </p:nvSpPr>
        <p:spPr/>
        <p:txBody>
          <a:bodyPr/>
          <a:lstStyle/>
          <a:p>
            <a:fld id="{F607EF64-5906-4921-8810-5E06B7DA6E12}" type="slidenum">
              <a:rPr lang="es-MX" smtClean="0"/>
              <a:pPr/>
              <a:t>‹Nº›</a:t>
            </a:fld>
            <a:endParaRPr lang="es-MX"/>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C5CAAA72-5F0C-4208-97A9-9D643455F947}" type="datetimeFigureOut">
              <a:rPr lang="es-MX" smtClean="0"/>
              <a:pPr/>
              <a:t>17/04/2026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F607EF64-5906-4921-8810-5E06B7DA6E12}" type="slidenum">
              <a:rPr lang="es-MX" smtClean="0"/>
              <a:pPr/>
              <a:t>‹Nº›</a:t>
            </a:fld>
            <a:endParaRPr lang="es-MX"/>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s-ES"/>
              <a:t>Haga clic para modificar el estilo de título del patrón</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C5CAAA72-5F0C-4208-97A9-9D643455F947}" type="datetimeFigureOut">
              <a:rPr lang="es-MX" smtClean="0"/>
              <a:pPr/>
              <a:t>17/04/2026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F607EF64-5906-4921-8810-5E06B7DA6E12}" type="slidenum">
              <a:rPr lang="es-MX" smtClean="0"/>
              <a:pPr/>
              <a:t>‹Nº›</a:t>
            </a:fld>
            <a:endParaRPr lang="es-MX"/>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C5CAAA72-5F0C-4208-97A9-9D643455F947}" type="datetimeFigureOut">
              <a:rPr lang="es-MX" smtClean="0"/>
              <a:pPr/>
              <a:t>17/04/2026</a:t>
            </a:fld>
            <a:endParaRPr lang="es-MX"/>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s-MX"/>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F607EF64-5906-4921-8810-5E06B7DA6E12}" type="slidenum">
              <a:rPr lang="es-MX" smtClean="0"/>
              <a:pPr/>
              <a:t>‹Nº›</a:t>
            </a:fld>
            <a:endParaRPr lang="es-MX"/>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mendez@ipn.mx"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4733365" y="2708476"/>
            <a:ext cx="3313355" cy="1618812"/>
          </a:xfrm>
        </p:spPr>
        <p:txBody>
          <a:bodyPr>
            <a:noAutofit/>
          </a:bodyPr>
          <a:lstStyle/>
          <a:p>
            <a:pPr algn="ctr"/>
            <a:r>
              <a:rPr lang="es-MX" sz="2400" b="1" dirty="0"/>
              <a:t> Diferencias y Analogías entre </a:t>
            </a:r>
            <a:r>
              <a:rPr lang="es-ES" sz="2400" b="1" dirty="0"/>
              <a:t>cibernética, computación e informática.</a:t>
            </a:r>
            <a:endParaRPr lang="es-MX" sz="2400" b="1" dirty="0"/>
          </a:p>
        </p:txBody>
      </p:sp>
      <p:sp>
        <p:nvSpPr>
          <p:cNvPr id="3" name="2 Subtítulo"/>
          <p:cNvSpPr>
            <a:spLocks noGrp="1"/>
          </p:cNvSpPr>
          <p:nvPr>
            <p:ph type="subTitle" idx="1"/>
          </p:nvPr>
        </p:nvSpPr>
        <p:spPr/>
        <p:txBody>
          <a:bodyPr/>
          <a:lstStyle/>
          <a:p>
            <a:r>
              <a:rPr lang="es-MX" dirty="0"/>
              <a:t>.</a:t>
            </a:r>
          </a:p>
        </p:txBody>
      </p:sp>
      <p:pic>
        <p:nvPicPr>
          <p:cNvPr id="1026" name="Imagen 2" descr="Descripción: ipn_trans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1273" y="260648"/>
            <a:ext cx="1736551" cy="1393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3 Rectángulo"/>
          <p:cNvSpPr/>
          <p:nvPr/>
        </p:nvSpPr>
        <p:spPr>
          <a:xfrm>
            <a:off x="80757" y="2011481"/>
            <a:ext cx="4419235" cy="4278094"/>
          </a:xfrm>
          <a:prstGeom prst="rect">
            <a:avLst/>
          </a:prstGeom>
        </p:spPr>
        <p:txBody>
          <a:bodyPr wrap="square">
            <a:spAutoFit/>
          </a:bodyPr>
          <a:lstStyle/>
          <a:p>
            <a:r>
              <a:rPr lang="es-MX" sz="2800" b="1" dirty="0" err="1"/>
              <a:t>Teoía</a:t>
            </a:r>
            <a:r>
              <a:rPr lang="es-MX" sz="2800" b="1" dirty="0"/>
              <a:t> de la </a:t>
            </a:r>
            <a:r>
              <a:rPr lang="es-MX" sz="2800" b="1"/>
              <a:t>computación y  Compiladores</a:t>
            </a:r>
            <a:endParaRPr lang="es-MX" sz="2800" b="1" dirty="0"/>
          </a:p>
          <a:p>
            <a:endParaRPr lang="pt-BR" sz="2800" dirty="0"/>
          </a:p>
          <a:p>
            <a:r>
              <a:rPr lang="pt-BR" dirty="0"/>
              <a:t>P R  E  S  E  N T  A: </a:t>
            </a:r>
            <a:endParaRPr lang="es-MX" dirty="0"/>
          </a:p>
          <a:p>
            <a:r>
              <a:rPr lang="pt-BR" b="1" dirty="0"/>
              <a:t>MÉNDEZ GARCÍA SARA</a:t>
            </a:r>
            <a:endParaRPr lang="es-MX" dirty="0"/>
          </a:p>
          <a:p>
            <a:r>
              <a:rPr lang="pt-BR" b="1" dirty="0">
                <a:hlinkClick r:id="rId3"/>
              </a:rPr>
              <a:t>smendez@ipn.mx</a:t>
            </a:r>
            <a:endParaRPr lang="pt-BR" b="1" dirty="0"/>
          </a:p>
          <a:p>
            <a:r>
              <a:rPr lang="pt-BR" sz="1600" b="1" dirty="0"/>
              <a:t> </a:t>
            </a:r>
          </a:p>
          <a:p>
            <a:endParaRPr lang="es-MX" dirty="0"/>
          </a:p>
          <a:p>
            <a:r>
              <a:rPr lang="es-MX" dirty="0"/>
              <a:t>Abril  20,  2026</a:t>
            </a:r>
          </a:p>
          <a:p>
            <a:r>
              <a:rPr lang="pt-BR" b="1" dirty="0"/>
              <a:t> </a:t>
            </a:r>
            <a:endParaRPr lang="es-MX" dirty="0"/>
          </a:p>
          <a:p>
            <a:r>
              <a:rPr lang="pt-BR" b="1" dirty="0"/>
              <a:t> </a:t>
            </a:r>
            <a:endParaRPr lang="es-MX" dirty="0"/>
          </a:p>
          <a:p>
            <a:endParaRPr lang="es-MX" dirty="0"/>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4781" y="4426246"/>
            <a:ext cx="1728192" cy="1618813"/>
          </a:xfrm>
          <a:prstGeom prst="rect">
            <a:avLst/>
          </a:prstGeom>
          <a:noFill/>
          <a:extLst>
            <a:ext uri="{909E8E84-426E-40DD-AFC4-6F175D3DCCD1}">
              <a14:hiddenFill xmlns:a14="http://schemas.microsoft.com/office/drawing/2010/main">
                <a:solidFill>
                  <a:srgbClr val="FFFFFF"/>
                </a:solidFill>
              </a14:hiddenFill>
            </a:ext>
          </a:extLst>
        </p:spPr>
      </p:pic>
      <p:sp>
        <p:nvSpPr>
          <p:cNvPr id="7" name="6 CuadroTexto"/>
          <p:cNvSpPr txBox="1"/>
          <p:nvPr/>
        </p:nvSpPr>
        <p:spPr>
          <a:xfrm>
            <a:off x="4788024" y="476672"/>
            <a:ext cx="3181707" cy="1323439"/>
          </a:xfrm>
          <a:prstGeom prst="rect">
            <a:avLst/>
          </a:prstGeom>
          <a:noFill/>
        </p:spPr>
        <p:txBody>
          <a:bodyPr wrap="square" rtlCol="0">
            <a:spAutoFit/>
          </a:bodyPr>
          <a:lstStyle/>
          <a:p>
            <a:r>
              <a:rPr lang="es-MX" sz="2000" b="1" dirty="0">
                <a:solidFill>
                  <a:schemeClr val="bg1"/>
                </a:solidFill>
              </a:rPr>
              <a:t> Analogías y Diferencias entre un Ensamblador, Compilador e Intérprete de Instrucciones (II). </a:t>
            </a:r>
            <a:endParaRPr lang="es-MX" sz="2000" dirty="0"/>
          </a:p>
        </p:txBody>
      </p:sp>
    </p:spTree>
    <p:extLst>
      <p:ext uri="{BB962C8B-B14F-4D97-AF65-F5344CB8AC3E}">
        <p14:creationId xmlns:p14="http://schemas.microsoft.com/office/powerpoint/2010/main" val="134354739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A50595-B8D2-2F46-4AAC-A79F44008B26}"/>
              </a:ext>
            </a:extLst>
          </p:cNvPr>
          <p:cNvSpPr>
            <a:spLocks noGrp="1"/>
          </p:cNvSpPr>
          <p:nvPr>
            <p:ph type="title"/>
          </p:nvPr>
        </p:nvSpPr>
        <p:spPr/>
        <p:txBody>
          <a:bodyPr/>
          <a:lstStyle/>
          <a:p>
            <a:r>
              <a:rPr lang="es-MX" dirty="0"/>
              <a:t>OBJETIVO</a:t>
            </a:r>
          </a:p>
        </p:txBody>
      </p:sp>
      <p:sp>
        <p:nvSpPr>
          <p:cNvPr id="3" name="Marcador de contenido 2">
            <a:extLst>
              <a:ext uri="{FF2B5EF4-FFF2-40B4-BE49-F238E27FC236}">
                <a16:creationId xmlns:a16="http://schemas.microsoft.com/office/drawing/2014/main" id="{93E4DDA3-EB6E-AB6F-69B3-0D8B8AEA264C}"/>
              </a:ext>
            </a:extLst>
          </p:cNvPr>
          <p:cNvSpPr>
            <a:spLocks noGrp="1"/>
          </p:cNvSpPr>
          <p:nvPr>
            <p:ph idx="1"/>
          </p:nvPr>
        </p:nvSpPr>
        <p:spPr/>
        <p:txBody>
          <a:bodyPr/>
          <a:lstStyle/>
          <a:p>
            <a:r>
              <a:rPr lang="es-MX" dirty="0"/>
              <a:t>Describir lo que es importante que contengan las AA de analogías y diferencia con una lista de ideas para que cada estudiante le de un mejor formato.</a:t>
            </a:r>
          </a:p>
        </p:txBody>
      </p:sp>
    </p:spTree>
    <p:extLst>
      <p:ext uri="{BB962C8B-B14F-4D97-AF65-F5344CB8AC3E}">
        <p14:creationId xmlns:p14="http://schemas.microsoft.com/office/powerpoint/2010/main" val="38787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INTRODUCCIÓN</a:t>
            </a:r>
          </a:p>
        </p:txBody>
      </p:sp>
      <p:sp>
        <p:nvSpPr>
          <p:cNvPr id="3" name="2 Marcador de contenido"/>
          <p:cNvSpPr>
            <a:spLocks noGrp="1"/>
          </p:cNvSpPr>
          <p:nvPr>
            <p:ph idx="1"/>
          </p:nvPr>
        </p:nvSpPr>
        <p:spPr/>
        <p:txBody>
          <a:bodyPr/>
          <a:lstStyle/>
          <a:p>
            <a:pPr lvl="0"/>
            <a:r>
              <a:rPr lang="es-ES" dirty="0"/>
              <a:t>Describa brevemente algunas analogías entre cibernética, computación e informática.</a:t>
            </a:r>
            <a:endParaRPr lang="es-MX" dirty="0"/>
          </a:p>
          <a:p>
            <a:pPr marL="68580" indent="0">
              <a:buNone/>
            </a:pPr>
            <a:endParaRPr lang="es-MX" dirty="0"/>
          </a:p>
        </p:txBody>
      </p:sp>
    </p:spTree>
    <p:extLst>
      <p:ext uri="{BB962C8B-B14F-4D97-AF65-F5344CB8AC3E}">
        <p14:creationId xmlns:p14="http://schemas.microsoft.com/office/powerpoint/2010/main" val="1481623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MX" dirty="0"/>
              <a:t>Analogías entre Cibernética, Computación e Informática.</a:t>
            </a:r>
          </a:p>
        </p:txBody>
      </p:sp>
      <p:sp>
        <p:nvSpPr>
          <p:cNvPr id="3" name="2 Marcador de contenido"/>
          <p:cNvSpPr>
            <a:spLocks noGrp="1"/>
          </p:cNvSpPr>
          <p:nvPr>
            <p:ph idx="1"/>
          </p:nvPr>
        </p:nvSpPr>
        <p:spPr/>
        <p:txBody>
          <a:bodyPr>
            <a:normAutofit fontScale="92500" lnSpcReduction="10000"/>
          </a:bodyPr>
          <a:lstStyle/>
          <a:p>
            <a:pPr marL="68580" lvl="0" indent="0">
              <a:buNone/>
            </a:pPr>
            <a:r>
              <a:rPr lang="es-ES" dirty="0"/>
              <a:t>1) Las 3 tienen un origen común son resultado del avance científico.</a:t>
            </a:r>
          </a:p>
          <a:p>
            <a:pPr marL="68580" lvl="0" indent="0">
              <a:buNone/>
            </a:pPr>
            <a:r>
              <a:rPr lang="es-ES" dirty="0"/>
              <a:t>2) Las 3 son de aplicación generalizada multidisciplinarias e interdisciplinaria.</a:t>
            </a:r>
          </a:p>
          <a:p>
            <a:pPr marL="68580" lvl="0" indent="0">
              <a:buNone/>
            </a:pPr>
            <a:r>
              <a:rPr lang="es-ES" dirty="0"/>
              <a:t>3) Las 3 tienen un enfoque sistémico.</a:t>
            </a:r>
          </a:p>
          <a:p>
            <a:pPr marL="68580" lvl="0" indent="0">
              <a:buNone/>
            </a:pPr>
            <a:r>
              <a:rPr lang="es-ES" dirty="0"/>
              <a:t>4) Las 3 están relacionadas y se complementan.</a:t>
            </a:r>
          </a:p>
          <a:p>
            <a:pPr marL="68580" lvl="0" indent="0">
              <a:buNone/>
            </a:pPr>
            <a:r>
              <a:rPr lang="es-ES" dirty="0"/>
              <a:t>5) Las 3 requieren innovación y creatividad.</a:t>
            </a:r>
          </a:p>
          <a:p>
            <a:pPr marL="68580" lvl="0" indent="0">
              <a:buNone/>
            </a:pPr>
            <a:r>
              <a:rPr lang="es-ES" dirty="0"/>
              <a:t>6) Las 3 requieren de la alguna área de la  matemática y se pueden hacer “formales” </a:t>
            </a:r>
            <a:endParaRPr lang="es-MX" dirty="0"/>
          </a:p>
          <a:p>
            <a:pPr marL="68580" indent="0">
              <a:buNone/>
            </a:pPr>
            <a:endParaRPr lang="es-MX" dirty="0"/>
          </a:p>
        </p:txBody>
      </p:sp>
    </p:spTree>
    <p:extLst>
      <p:ext uri="{BB962C8B-B14F-4D97-AF65-F5344CB8AC3E}">
        <p14:creationId xmlns:p14="http://schemas.microsoft.com/office/powerpoint/2010/main" val="194356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INTRODUCCIÓN</a:t>
            </a:r>
          </a:p>
        </p:txBody>
      </p:sp>
      <p:sp>
        <p:nvSpPr>
          <p:cNvPr id="3" name="2 Marcador de contenido"/>
          <p:cNvSpPr>
            <a:spLocks noGrp="1"/>
          </p:cNvSpPr>
          <p:nvPr>
            <p:ph idx="1"/>
          </p:nvPr>
        </p:nvSpPr>
        <p:spPr/>
        <p:txBody>
          <a:bodyPr/>
          <a:lstStyle/>
          <a:p>
            <a:pPr lvl="0"/>
            <a:r>
              <a:rPr lang="es-ES" dirty="0"/>
              <a:t>Defina la diferencia principal entre cibernética y computación (Esto es, su objeto de estudio de cada una)</a:t>
            </a:r>
          </a:p>
          <a:p>
            <a:pPr lvl="0"/>
            <a:r>
              <a:rPr lang="es-ES" dirty="0"/>
              <a:t>¿Cuál es el objeto de estudio de la cibernética?</a:t>
            </a:r>
          </a:p>
          <a:p>
            <a:pPr lvl="0"/>
            <a:r>
              <a:rPr lang="es-ES" dirty="0"/>
              <a:t>¿Cuál es el objeto de estudio de la computación?</a:t>
            </a:r>
            <a:endParaRPr lang="es-MX" dirty="0"/>
          </a:p>
          <a:p>
            <a:endParaRPr lang="es-MX" dirty="0"/>
          </a:p>
        </p:txBody>
      </p:sp>
    </p:spTree>
    <p:extLst>
      <p:ext uri="{BB962C8B-B14F-4D97-AF65-F5344CB8AC3E}">
        <p14:creationId xmlns:p14="http://schemas.microsoft.com/office/powerpoint/2010/main" val="2886280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INTRODUCCIÓN</a:t>
            </a:r>
          </a:p>
        </p:txBody>
      </p:sp>
      <p:sp>
        <p:nvSpPr>
          <p:cNvPr id="3" name="2 Marcador de contenido"/>
          <p:cNvSpPr>
            <a:spLocks noGrp="1"/>
          </p:cNvSpPr>
          <p:nvPr>
            <p:ph idx="1"/>
          </p:nvPr>
        </p:nvSpPr>
        <p:spPr>
          <a:xfrm>
            <a:off x="683568" y="2323652"/>
            <a:ext cx="7848872" cy="3508977"/>
          </a:xfrm>
        </p:spPr>
        <p:txBody>
          <a:bodyPr>
            <a:normAutofit fontScale="92500" lnSpcReduction="10000"/>
          </a:bodyPr>
          <a:lstStyle/>
          <a:p>
            <a:pPr lvl="0"/>
            <a:r>
              <a:rPr lang="es-ES" dirty="0"/>
              <a:t>Defina la diferencia principal entre cibernética e informática (Esto es, su objeto de estudio de cada una).</a:t>
            </a:r>
          </a:p>
          <a:p>
            <a:pPr marL="68580" lvl="0" indent="0">
              <a:buNone/>
            </a:pPr>
            <a:r>
              <a:rPr lang="es-ES" dirty="0"/>
              <a:t>El objeto de estudio de la cibernética es la automatización, los sistemas de control de lazo abierto y de lazo cerrado.</a:t>
            </a:r>
          </a:p>
          <a:p>
            <a:pPr marL="68580" lvl="0" indent="0">
              <a:buNone/>
            </a:pPr>
            <a:r>
              <a:rPr lang="es-ES" dirty="0"/>
              <a:t>La informática tiene como objeto de estudio los sistemas de información que incluyen a los Recursos humanos, sistemas computacionales, su contexto social, político y económico.</a:t>
            </a:r>
            <a:endParaRPr lang="es-MX" dirty="0"/>
          </a:p>
          <a:p>
            <a:endParaRPr lang="es-MX" dirty="0"/>
          </a:p>
        </p:txBody>
      </p:sp>
    </p:spTree>
    <p:extLst>
      <p:ext uri="{BB962C8B-B14F-4D97-AF65-F5344CB8AC3E}">
        <p14:creationId xmlns:p14="http://schemas.microsoft.com/office/powerpoint/2010/main" val="3858329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INTRODUCCIÓN.</a:t>
            </a:r>
          </a:p>
        </p:txBody>
      </p:sp>
      <p:sp>
        <p:nvSpPr>
          <p:cNvPr id="3" name="2 Marcador de contenido"/>
          <p:cNvSpPr>
            <a:spLocks noGrp="1"/>
          </p:cNvSpPr>
          <p:nvPr>
            <p:ph idx="1"/>
          </p:nvPr>
        </p:nvSpPr>
        <p:spPr/>
        <p:txBody>
          <a:bodyPr/>
          <a:lstStyle/>
          <a:p>
            <a:pPr lvl="0"/>
            <a:r>
              <a:rPr lang="es-ES" dirty="0"/>
              <a:t>Defina la principal diferencia entre computación e informática</a:t>
            </a:r>
            <a:endParaRPr lang="es-MX" dirty="0"/>
          </a:p>
          <a:p>
            <a:pPr marL="68580" indent="0">
              <a:buNone/>
            </a:pPr>
            <a:endParaRPr lang="es-MX" dirty="0"/>
          </a:p>
        </p:txBody>
      </p:sp>
    </p:spTree>
    <p:extLst>
      <p:ext uri="{BB962C8B-B14F-4D97-AF65-F5344CB8AC3E}">
        <p14:creationId xmlns:p14="http://schemas.microsoft.com/office/powerpoint/2010/main" val="1508558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INTRODUCCIÓN.</a:t>
            </a:r>
          </a:p>
        </p:txBody>
      </p:sp>
      <p:sp>
        <p:nvSpPr>
          <p:cNvPr id="3" name="2 Marcador de contenido"/>
          <p:cNvSpPr>
            <a:spLocks noGrp="1"/>
          </p:cNvSpPr>
          <p:nvPr>
            <p:ph idx="1"/>
          </p:nvPr>
        </p:nvSpPr>
        <p:spPr>
          <a:xfrm>
            <a:off x="467544" y="2204864"/>
            <a:ext cx="8064896" cy="3841652"/>
          </a:xfrm>
        </p:spPr>
        <p:txBody>
          <a:bodyPr>
            <a:normAutofit/>
          </a:bodyPr>
          <a:lstStyle/>
          <a:p>
            <a:pPr lvl="0"/>
            <a:r>
              <a:rPr lang="es-ES" dirty="0"/>
              <a:t>Defina la principal diferencia entre computación e informática.</a:t>
            </a:r>
          </a:p>
          <a:p>
            <a:pPr marL="68580" lvl="0" indent="0">
              <a:buNone/>
            </a:pPr>
            <a:r>
              <a:rPr lang="es-ES" dirty="0"/>
              <a:t>La computación tiene como objeto de estudio los sistemas computacionales que incluyen las  tele comunicaciones,  a los sistemas operativos, bases de datos, etc.</a:t>
            </a:r>
          </a:p>
          <a:p>
            <a:pPr marL="68580" lvl="0" indent="0">
              <a:buNone/>
            </a:pPr>
            <a:r>
              <a:rPr lang="es-ES" dirty="0"/>
              <a:t>La informática surgió después de que se crearon las primeras computadoras con aplicaciones comerciales, industriales y de servicios.</a:t>
            </a:r>
            <a:endParaRPr lang="es-MX" dirty="0"/>
          </a:p>
          <a:p>
            <a:pPr marL="68580" indent="0">
              <a:buNone/>
            </a:pPr>
            <a:endParaRPr lang="es-MX" dirty="0"/>
          </a:p>
        </p:txBody>
      </p:sp>
    </p:spTree>
    <p:extLst>
      <p:ext uri="{BB962C8B-B14F-4D97-AF65-F5344CB8AC3E}">
        <p14:creationId xmlns:p14="http://schemas.microsoft.com/office/powerpoint/2010/main" val="918751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INTRODUCCIÓN</a:t>
            </a:r>
          </a:p>
        </p:txBody>
      </p:sp>
      <p:sp>
        <p:nvSpPr>
          <p:cNvPr id="3" name="2 Marcador de contenido"/>
          <p:cNvSpPr>
            <a:spLocks noGrp="1"/>
          </p:cNvSpPr>
          <p:nvPr>
            <p:ph idx="1"/>
          </p:nvPr>
        </p:nvSpPr>
        <p:spPr/>
        <p:txBody>
          <a:bodyPr/>
          <a:lstStyle/>
          <a:p>
            <a:pPr lvl="0"/>
            <a:r>
              <a:rPr lang="es-ES" dirty="0"/>
              <a:t>Defina la principal diferencia entre cibernética e informática.</a:t>
            </a:r>
            <a:endParaRPr lang="es-MX" dirty="0"/>
          </a:p>
          <a:p>
            <a:pPr marL="68580" indent="0">
              <a:buNone/>
            </a:pPr>
            <a:endParaRPr lang="es-MX" dirty="0"/>
          </a:p>
        </p:txBody>
      </p:sp>
    </p:spTree>
    <p:extLst>
      <p:ext uri="{BB962C8B-B14F-4D97-AF65-F5344CB8AC3E}">
        <p14:creationId xmlns:p14="http://schemas.microsoft.com/office/powerpoint/2010/main" val="4287229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INTRODUCCIÓN</a:t>
            </a:r>
          </a:p>
        </p:txBody>
      </p:sp>
      <p:sp>
        <p:nvSpPr>
          <p:cNvPr id="3" name="2 Marcador de contenido"/>
          <p:cNvSpPr>
            <a:spLocks noGrp="1"/>
          </p:cNvSpPr>
          <p:nvPr>
            <p:ph idx="1"/>
          </p:nvPr>
        </p:nvSpPr>
        <p:spPr/>
        <p:txBody>
          <a:bodyPr>
            <a:normAutofit lnSpcReduction="10000"/>
          </a:bodyPr>
          <a:lstStyle/>
          <a:p>
            <a:pPr lvl="0"/>
            <a:r>
              <a:rPr lang="es-ES" dirty="0"/>
              <a:t>Defina la principal diferencia entre cibernética e informática.</a:t>
            </a:r>
          </a:p>
          <a:p>
            <a:pPr marL="68580" lvl="0" indent="0">
              <a:buNone/>
            </a:pPr>
            <a:r>
              <a:rPr lang="es-ES" dirty="0"/>
              <a:t>La cibernética es una aliada con la informática cuando se toca el terreno de los “ACTUADORES” dentro del área de la inteligencia artificial siendo el objeto de desarrollo de un sistema de información la parte del comportamiento del sistema, como es el área de los sistemas expertos y sistemas críticos.</a:t>
            </a:r>
            <a:endParaRPr lang="es-MX" dirty="0"/>
          </a:p>
          <a:p>
            <a:pPr marL="68580" indent="0">
              <a:buNone/>
            </a:pPr>
            <a:endParaRPr lang="es-MX" dirty="0"/>
          </a:p>
        </p:txBody>
      </p:sp>
    </p:spTree>
    <p:extLst>
      <p:ext uri="{BB962C8B-B14F-4D97-AF65-F5344CB8AC3E}">
        <p14:creationId xmlns:p14="http://schemas.microsoft.com/office/powerpoint/2010/main" val="74772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INTRODUCCIÓN</a:t>
            </a:r>
          </a:p>
        </p:txBody>
      </p:sp>
      <p:sp>
        <p:nvSpPr>
          <p:cNvPr id="3" name="2 Marcador de contenido"/>
          <p:cNvSpPr>
            <a:spLocks noGrp="1"/>
          </p:cNvSpPr>
          <p:nvPr>
            <p:ph idx="1"/>
          </p:nvPr>
        </p:nvSpPr>
        <p:spPr/>
        <p:txBody>
          <a:bodyPr/>
          <a:lstStyle/>
          <a:p>
            <a:r>
              <a:rPr lang="es-ES" dirty="0"/>
              <a:t>¿Qué es la Teoría de la computación?</a:t>
            </a:r>
            <a:endParaRPr lang="es-MX" dirty="0"/>
          </a:p>
        </p:txBody>
      </p:sp>
    </p:spTree>
    <p:extLst>
      <p:ext uri="{BB962C8B-B14F-4D97-AF65-F5344CB8AC3E}">
        <p14:creationId xmlns:p14="http://schemas.microsoft.com/office/powerpoint/2010/main" val="4261184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INTRODUCCIÓN</a:t>
            </a:r>
          </a:p>
        </p:txBody>
      </p:sp>
      <p:sp>
        <p:nvSpPr>
          <p:cNvPr id="3" name="2 Marcador de contenido"/>
          <p:cNvSpPr>
            <a:spLocks noGrp="1"/>
          </p:cNvSpPr>
          <p:nvPr>
            <p:ph idx="1"/>
          </p:nvPr>
        </p:nvSpPr>
        <p:spPr/>
        <p:txBody>
          <a:bodyPr>
            <a:normAutofit lnSpcReduction="10000"/>
          </a:bodyPr>
          <a:lstStyle/>
          <a:p>
            <a:r>
              <a:rPr lang="es-ES" dirty="0"/>
              <a:t>¿Qué es la Teoría de la computación?</a:t>
            </a:r>
          </a:p>
          <a:p>
            <a:pPr marL="68580" indent="0">
              <a:buNone/>
            </a:pPr>
            <a:r>
              <a:rPr lang="es-ES" dirty="0"/>
              <a:t>La teoría de la computación incluye varias teorías como:</a:t>
            </a:r>
          </a:p>
          <a:p>
            <a:pPr marL="68580" indent="0">
              <a:buNone/>
            </a:pPr>
            <a:r>
              <a:rPr lang="es-ES" dirty="0"/>
              <a:t>Matemáticas discretas</a:t>
            </a:r>
          </a:p>
          <a:p>
            <a:pPr marL="68580" indent="0">
              <a:buNone/>
            </a:pPr>
            <a:r>
              <a:rPr lang="es-ES" dirty="0"/>
              <a:t>Teoría de conjuntos</a:t>
            </a:r>
          </a:p>
          <a:p>
            <a:pPr marL="68580" indent="0">
              <a:buNone/>
            </a:pPr>
            <a:r>
              <a:rPr lang="es-ES" dirty="0"/>
              <a:t>Teoría de autómatas</a:t>
            </a:r>
          </a:p>
          <a:p>
            <a:pPr marL="68580" indent="0">
              <a:buNone/>
            </a:pPr>
            <a:r>
              <a:rPr lang="es-ES" dirty="0"/>
              <a:t>Teoría de Lenguajes formales y</a:t>
            </a:r>
          </a:p>
          <a:p>
            <a:pPr marL="68580" indent="0">
              <a:buNone/>
            </a:pPr>
            <a:r>
              <a:rPr lang="es-ES" dirty="0"/>
              <a:t>Lingüística con el estudio de las gramáticas formales.</a:t>
            </a:r>
          </a:p>
          <a:p>
            <a:pPr marL="68580" indent="0">
              <a:buNone/>
            </a:pPr>
            <a:endParaRPr lang="es-MX" dirty="0"/>
          </a:p>
        </p:txBody>
      </p:sp>
    </p:spTree>
    <p:extLst>
      <p:ext uri="{BB962C8B-B14F-4D97-AF65-F5344CB8AC3E}">
        <p14:creationId xmlns:p14="http://schemas.microsoft.com/office/powerpoint/2010/main" val="984695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43608" y="692696"/>
            <a:ext cx="7024744" cy="745152"/>
          </a:xfrm>
        </p:spPr>
        <p:txBody>
          <a:bodyPr/>
          <a:lstStyle/>
          <a:p>
            <a:r>
              <a:rPr lang="es-MX" dirty="0"/>
              <a:t>INTRODUCCIÓN</a:t>
            </a:r>
          </a:p>
        </p:txBody>
      </p:sp>
      <p:sp>
        <p:nvSpPr>
          <p:cNvPr id="3" name="2 Marcador de contenido"/>
          <p:cNvSpPr>
            <a:spLocks noGrp="1"/>
          </p:cNvSpPr>
          <p:nvPr>
            <p:ph idx="1"/>
          </p:nvPr>
        </p:nvSpPr>
        <p:spPr>
          <a:xfrm>
            <a:off x="611560" y="1412776"/>
            <a:ext cx="8136904" cy="5040560"/>
          </a:xfrm>
        </p:spPr>
        <p:txBody>
          <a:bodyPr>
            <a:normAutofit fontScale="92500" lnSpcReduction="20000"/>
          </a:bodyPr>
          <a:lstStyle/>
          <a:p>
            <a:pPr lvl="0"/>
            <a:r>
              <a:rPr lang="es-ES" dirty="0"/>
              <a:t>¿Cuáles son los puntos clave que debe contener una definición completa de lo que es un Sistema?</a:t>
            </a:r>
          </a:p>
          <a:p>
            <a:pPr marL="68580" indent="0">
              <a:buNone/>
            </a:pPr>
            <a:r>
              <a:rPr lang="es-MX" b="1" i="1" dirty="0"/>
              <a:t>“SISTEMA, </a:t>
            </a:r>
            <a:r>
              <a:rPr lang="es-MX" i="1" dirty="0"/>
              <a:t>es un conjunto de </a:t>
            </a:r>
            <a:r>
              <a:rPr lang="es-MX" b="1" i="1" dirty="0"/>
              <a:t>elementos independientes</a:t>
            </a:r>
            <a:r>
              <a:rPr lang="es-MX" i="1" dirty="0"/>
              <a:t> pero </a:t>
            </a:r>
            <a:r>
              <a:rPr lang="es-MX" b="1" i="1" dirty="0"/>
              <a:t>interrelacionados</a:t>
            </a:r>
            <a:r>
              <a:rPr lang="es-MX" i="1" dirty="0"/>
              <a:t> (</a:t>
            </a:r>
            <a:r>
              <a:rPr lang="es-MX" b="1" i="1" dirty="0"/>
              <a:t>recursos</a:t>
            </a:r>
            <a:r>
              <a:rPr lang="es-MX" i="1" dirty="0"/>
              <a:t>) que interactúan, directa o indirectamente, que forman un todo indivisible y organizado (nombre del sistema), que afecta y se ve afectado por su </a:t>
            </a:r>
            <a:r>
              <a:rPr lang="es-MX" b="1" i="1" dirty="0"/>
              <a:t>medio ambiente</a:t>
            </a:r>
            <a:r>
              <a:rPr lang="es-MX" i="1" dirty="0"/>
              <a:t> y realiza </a:t>
            </a:r>
            <a:r>
              <a:rPr lang="es-MX" b="1" i="1" dirty="0"/>
              <a:t>actividades</a:t>
            </a:r>
            <a:r>
              <a:rPr lang="es-MX" i="1" dirty="0"/>
              <a:t>, para el cumplimiento de su </a:t>
            </a:r>
            <a:r>
              <a:rPr lang="es-MX" b="1" i="1" dirty="0"/>
              <a:t>propósito u objetivo</a:t>
            </a:r>
            <a:r>
              <a:rPr lang="es-MX" i="1" dirty="0"/>
              <a:t>, valiéndose de mecanismos de </a:t>
            </a:r>
            <a:r>
              <a:rPr lang="es-MX" b="1" i="1" dirty="0"/>
              <a:t>retroalimentación</a:t>
            </a:r>
            <a:r>
              <a:rPr lang="es-MX" i="1" dirty="0"/>
              <a:t> que le permiten efectuar su auto </a:t>
            </a:r>
            <a:r>
              <a:rPr lang="es-MX" b="1" i="1" dirty="0"/>
              <a:t>control</a:t>
            </a:r>
            <a:r>
              <a:rPr lang="es-MX" i="1" dirty="0"/>
              <a:t> para continuar su existencia”.</a:t>
            </a:r>
            <a:endParaRPr lang="es-MX" dirty="0"/>
          </a:p>
          <a:p>
            <a:r>
              <a:rPr lang="es-ES" i="1" dirty="0"/>
              <a:t>(Al aplicar este concepto, bajo cualquier campo de investigación o disciplina, cualquier hecho, suceso o fenómeno de la naturaleza a ser estudiado como sistema, permitirá precisar y delimitar sus elementos con mayor objetividad y comprenderlo mejor. Fuente: Silva [2010], página 19.</a:t>
            </a:r>
            <a:endParaRPr lang="es-MX" dirty="0"/>
          </a:p>
          <a:p>
            <a:endParaRPr lang="es-MX" dirty="0"/>
          </a:p>
        </p:txBody>
      </p:sp>
    </p:spTree>
    <p:extLst>
      <p:ext uri="{BB962C8B-B14F-4D97-AF65-F5344CB8AC3E}">
        <p14:creationId xmlns:p14="http://schemas.microsoft.com/office/powerpoint/2010/main" val="2707987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43490" y="1027664"/>
            <a:ext cx="7024744" cy="601136"/>
          </a:xfrm>
        </p:spPr>
        <p:txBody>
          <a:bodyPr>
            <a:normAutofit fontScale="90000"/>
          </a:bodyPr>
          <a:lstStyle/>
          <a:p>
            <a:r>
              <a:rPr lang="es-MX" dirty="0"/>
              <a:t>INTRODUCCIÓN</a:t>
            </a:r>
          </a:p>
        </p:txBody>
      </p:sp>
      <p:sp>
        <p:nvSpPr>
          <p:cNvPr id="3" name="2 Marcador de contenido"/>
          <p:cNvSpPr>
            <a:spLocks noGrp="1"/>
          </p:cNvSpPr>
          <p:nvPr>
            <p:ph idx="1"/>
          </p:nvPr>
        </p:nvSpPr>
        <p:spPr/>
        <p:txBody>
          <a:bodyPr/>
          <a:lstStyle/>
          <a:p>
            <a:pPr lvl="0"/>
            <a:r>
              <a:rPr lang="es-ES" dirty="0"/>
              <a:t>¿Qué es un Sistema Formal?</a:t>
            </a:r>
            <a:endParaRPr lang="es-MX" dirty="0"/>
          </a:p>
          <a:p>
            <a:pPr marL="68580" indent="0">
              <a:buNone/>
            </a:pPr>
            <a:endParaRPr lang="es-MX" dirty="0"/>
          </a:p>
        </p:txBody>
      </p:sp>
    </p:spTree>
    <p:extLst>
      <p:ext uri="{BB962C8B-B14F-4D97-AF65-F5344CB8AC3E}">
        <p14:creationId xmlns:p14="http://schemas.microsoft.com/office/powerpoint/2010/main" val="2028775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43490" y="1027664"/>
            <a:ext cx="7024744" cy="601136"/>
          </a:xfrm>
        </p:spPr>
        <p:txBody>
          <a:bodyPr>
            <a:normAutofit fontScale="90000"/>
          </a:bodyPr>
          <a:lstStyle/>
          <a:p>
            <a:r>
              <a:rPr lang="es-MX" dirty="0"/>
              <a:t>INTRODUCCIÓN</a:t>
            </a:r>
          </a:p>
        </p:txBody>
      </p:sp>
      <p:sp>
        <p:nvSpPr>
          <p:cNvPr id="3" name="2 Marcador de contenido"/>
          <p:cNvSpPr>
            <a:spLocks noGrp="1"/>
          </p:cNvSpPr>
          <p:nvPr>
            <p:ph idx="1"/>
          </p:nvPr>
        </p:nvSpPr>
        <p:spPr>
          <a:xfrm>
            <a:off x="899592" y="1772816"/>
            <a:ext cx="6921217" cy="4059813"/>
          </a:xfrm>
        </p:spPr>
        <p:txBody>
          <a:bodyPr>
            <a:normAutofit fontScale="92500" lnSpcReduction="20000"/>
          </a:bodyPr>
          <a:lstStyle/>
          <a:p>
            <a:pPr lvl="0"/>
            <a:r>
              <a:rPr lang="es-ES" dirty="0"/>
              <a:t>¿Qué es un Sistema Formal?</a:t>
            </a:r>
          </a:p>
          <a:p>
            <a:pPr marL="68580" indent="0">
              <a:buNone/>
            </a:pPr>
            <a:r>
              <a:rPr lang="es-MX" dirty="0"/>
              <a:t>Se define a un sistema formal como el conjunto de los elementos destinados a cumplir cierta tarea o tareas siguiendo condiciones o, los requisitos establecidos. Aplicado a la teoría de lenguajes y compiladores, esto puede verse desde un punto de vista matemático y </a:t>
            </a:r>
            <a:r>
              <a:rPr lang="es-MX" i="1" dirty="0"/>
              <a:t>axiomático</a:t>
            </a:r>
            <a:r>
              <a:rPr lang="es-MX" dirty="0"/>
              <a:t>.</a:t>
            </a:r>
          </a:p>
          <a:p>
            <a:pPr marL="68580" indent="0">
              <a:buNone/>
            </a:pPr>
            <a:r>
              <a:rPr lang="es-MX" b="1" dirty="0"/>
              <a:t>Los Sistemas Formales poseen propiedades, las cuales son:</a:t>
            </a:r>
            <a:endParaRPr lang="es-MX" dirty="0"/>
          </a:p>
          <a:p>
            <a:pPr marL="68580" indent="0">
              <a:buNone/>
            </a:pPr>
            <a:r>
              <a:rPr lang="es-MX" b="1" dirty="0"/>
              <a:t>-Coherencia</a:t>
            </a:r>
            <a:endParaRPr lang="es-MX" dirty="0"/>
          </a:p>
          <a:p>
            <a:pPr marL="68580" indent="0">
              <a:buNone/>
            </a:pPr>
            <a:r>
              <a:rPr lang="es-MX" b="1" dirty="0"/>
              <a:t>-Completitud</a:t>
            </a:r>
          </a:p>
          <a:p>
            <a:pPr marL="68580" indent="0">
              <a:buNone/>
            </a:pPr>
            <a:r>
              <a:rPr lang="es-MX" b="1" dirty="0"/>
              <a:t>-</a:t>
            </a:r>
            <a:r>
              <a:rPr lang="es-MX" b="1" dirty="0" err="1"/>
              <a:t>Decidibilidad</a:t>
            </a:r>
            <a:r>
              <a:rPr lang="es-MX" b="1" dirty="0"/>
              <a:t> además de tener un LENGUAJE.</a:t>
            </a:r>
            <a:endParaRPr lang="es-MX" dirty="0"/>
          </a:p>
          <a:p>
            <a:pPr marL="68580" lvl="0" indent="0">
              <a:buNone/>
            </a:pPr>
            <a:endParaRPr lang="es-MX" dirty="0"/>
          </a:p>
          <a:p>
            <a:pPr marL="68580" indent="0">
              <a:buNone/>
            </a:pPr>
            <a:endParaRPr lang="es-MX" dirty="0"/>
          </a:p>
        </p:txBody>
      </p:sp>
    </p:spTree>
    <p:extLst>
      <p:ext uri="{BB962C8B-B14F-4D97-AF65-F5344CB8AC3E}">
        <p14:creationId xmlns:p14="http://schemas.microsoft.com/office/powerpoint/2010/main" val="325319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INTRODUCCIÓN</a:t>
            </a:r>
          </a:p>
        </p:txBody>
      </p:sp>
      <p:sp>
        <p:nvSpPr>
          <p:cNvPr id="3" name="2 Marcador de contenido"/>
          <p:cNvSpPr>
            <a:spLocks noGrp="1"/>
          </p:cNvSpPr>
          <p:nvPr>
            <p:ph idx="1"/>
          </p:nvPr>
        </p:nvSpPr>
        <p:spPr/>
        <p:txBody>
          <a:bodyPr/>
          <a:lstStyle/>
          <a:p>
            <a:r>
              <a:rPr lang="es-ES" dirty="0"/>
              <a:t>¿Para qué sirve aplicar la teoría de autómatas?</a:t>
            </a:r>
            <a:endParaRPr lang="es-MX" dirty="0"/>
          </a:p>
        </p:txBody>
      </p:sp>
    </p:spTree>
    <p:extLst>
      <p:ext uri="{BB962C8B-B14F-4D97-AF65-F5344CB8AC3E}">
        <p14:creationId xmlns:p14="http://schemas.microsoft.com/office/powerpoint/2010/main" val="1224096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43490" y="1027664"/>
            <a:ext cx="7024744" cy="601136"/>
          </a:xfrm>
        </p:spPr>
        <p:txBody>
          <a:bodyPr>
            <a:normAutofit fontScale="90000"/>
          </a:bodyPr>
          <a:lstStyle/>
          <a:p>
            <a:r>
              <a:rPr lang="es-MX" dirty="0"/>
              <a:t>INTRODUCCIÓN</a:t>
            </a:r>
          </a:p>
        </p:txBody>
      </p:sp>
      <p:sp>
        <p:nvSpPr>
          <p:cNvPr id="3" name="2 Marcador de contenido"/>
          <p:cNvSpPr>
            <a:spLocks noGrp="1"/>
          </p:cNvSpPr>
          <p:nvPr>
            <p:ph idx="1"/>
          </p:nvPr>
        </p:nvSpPr>
        <p:spPr>
          <a:xfrm>
            <a:off x="1043492" y="1700808"/>
            <a:ext cx="6777317" cy="4131821"/>
          </a:xfrm>
        </p:spPr>
        <p:txBody>
          <a:bodyPr>
            <a:normAutofit lnSpcReduction="10000"/>
          </a:bodyPr>
          <a:lstStyle/>
          <a:p>
            <a:r>
              <a:rPr lang="es-ES" dirty="0"/>
              <a:t>¿Para qué sirve aplicar la teoría de autómatas?</a:t>
            </a:r>
          </a:p>
          <a:p>
            <a:pPr marL="68580" indent="0">
              <a:buNone/>
            </a:pPr>
            <a:r>
              <a:rPr lang="es-ES" dirty="0"/>
              <a:t>Para modelar el comportamiento de ciertos sistemas formales que tienen entradas y salidas discretas.</a:t>
            </a:r>
          </a:p>
          <a:p>
            <a:pPr marL="68580" indent="0">
              <a:buNone/>
            </a:pPr>
            <a:r>
              <a:rPr lang="es-ES" dirty="0"/>
              <a:t>Para representar mediante funciones algebraicas los elementos de lenguajes formales.</a:t>
            </a:r>
          </a:p>
          <a:p>
            <a:pPr marL="68580" indent="0">
              <a:buNone/>
            </a:pPr>
            <a:r>
              <a:rPr lang="es-ES" dirty="0"/>
              <a:t>Para utilizar los lenguajes regulares que representan en un sinfín de aplicaciones. FILTROS, SEGURIDAD, CRIPTOGRAFÍA, etc. </a:t>
            </a:r>
            <a:endParaRPr lang="es-MX" dirty="0"/>
          </a:p>
        </p:txBody>
      </p:sp>
    </p:spTree>
    <p:extLst>
      <p:ext uri="{BB962C8B-B14F-4D97-AF65-F5344CB8AC3E}">
        <p14:creationId xmlns:p14="http://schemas.microsoft.com/office/powerpoint/2010/main" val="2594465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INTRODUCCIÓN</a:t>
            </a:r>
          </a:p>
        </p:txBody>
      </p:sp>
      <p:sp>
        <p:nvSpPr>
          <p:cNvPr id="3" name="2 Marcador de contenido"/>
          <p:cNvSpPr>
            <a:spLocks noGrp="1"/>
          </p:cNvSpPr>
          <p:nvPr>
            <p:ph idx="1"/>
          </p:nvPr>
        </p:nvSpPr>
        <p:spPr/>
        <p:txBody>
          <a:bodyPr/>
          <a:lstStyle/>
          <a:p>
            <a:pPr lvl="0"/>
            <a:r>
              <a:rPr lang="es-ES" dirty="0"/>
              <a:t>¿Qué es un lenguaje formal?</a:t>
            </a:r>
            <a:endParaRPr lang="es-MX" dirty="0"/>
          </a:p>
          <a:p>
            <a:pPr marL="68580" indent="0">
              <a:buNone/>
            </a:pPr>
            <a:endParaRPr lang="es-MX" dirty="0"/>
          </a:p>
        </p:txBody>
      </p:sp>
    </p:spTree>
    <p:extLst>
      <p:ext uri="{BB962C8B-B14F-4D97-AF65-F5344CB8AC3E}">
        <p14:creationId xmlns:p14="http://schemas.microsoft.com/office/powerpoint/2010/main" val="1742312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INTRODUCCIÓN</a:t>
            </a:r>
          </a:p>
        </p:txBody>
      </p:sp>
      <p:sp>
        <p:nvSpPr>
          <p:cNvPr id="3" name="2 Marcador de contenido"/>
          <p:cNvSpPr>
            <a:spLocks noGrp="1"/>
          </p:cNvSpPr>
          <p:nvPr>
            <p:ph idx="1"/>
          </p:nvPr>
        </p:nvSpPr>
        <p:spPr/>
        <p:txBody>
          <a:bodyPr>
            <a:normAutofit fontScale="92500" lnSpcReduction="10000"/>
          </a:bodyPr>
          <a:lstStyle/>
          <a:p>
            <a:pPr lvl="0"/>
            <a:r>
              <a:rPr lang="es-ES" dirty="0"/>
              <a:t>¿Qué es un lenguaje formal? BNF</a:t>
            </a:r>
          </a:p>
          <a:p>
            <a:pPr marL="68580" lvl="0" indent="0">
              <a:buNone/>
            </a:pPr>
            <a:r>
              <a:rPr lang="es-ES" dirty="0"/>
              <a:t>Son los que se han representado mediante elementos axiomáticos, algebraicos y abstractos tales como: LAS MÁQUINAS DE TURING, Los autómatas de pila, los autómatas finitos (No determinísticos con épsilon transiciones, sin épsilon transiciones, y los autómatas determinísticos).  </a:t>
            </a:r>
            <a:endParaRPr lang="es-MX" dirty="0"/>
          </a:p>
          <a:p>
            <a:pPr marL="68580" indent="0">
              <a:buNone/>
            </a:pPr>
            <a:r>
              <a:rPr lang="es-MX" dirty="0"/>
              <a:t>También las expresiones regulares (ER) son “lenguajes formales” o METALENGUAJES</a:t>
            </a:r>
          </a:p>
        </p:txBody>
      </p:sp>
    </p:spTree>
    <p:extLst>
      <p:ext uri="{BB962C8B-B14F-4D97-AF65-F5344CB8AC3E}">
        <p14:creationId xmlns:p14="http://schemas.microsoft.com/office/powerpoint/2010/main" val="24116735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INTRODUCCIÓN</a:t>
            </a:r>
          </a:p>
        </p:txBody>
      </p:sp>
      <p:sp>
        <p:nvSpPr>
          <p:cNvPr id="3" name="2 Marcador de contenido"/>
          <p:cNvSpPr>
            <a:spLocks noGrp="1"/>
          </p:cNvSpPr>
          <p:nvPr>
            <p:ph idx="1"/>
          </p:nvPr>
        </p:nvSpPr>
        <p:spPr/>
        <p:txBody>
          <a:bodyPr/>
          <a:lstStyle/>
          <a:p>
            <a:pPr lvl="0"/>
            <a:r>
              <a:rPr lang="es-ES" dirty="0"/>
              <a:t>Defina un autómata formalmente y verbalmente (con sus cinco elementos).</a:t>
            </a:r>
            <a:endParaRPr lang="es-MX" dirty="0"/>
          </a:p>
          <a:p>
            <a:endParaRPr lang="es-MX" dirty="0"/>
          </a:p>
        </p:txBody>
      </p:sp>
    </p:spTree>
    <p:extLst>
      <p:ext uri="{BB962C8B-B14F-4D97-AF65-F5344CB8AC3E}">
        <p14:creationId xmlns:p14="http://schemas.microsoft.com/office/powerpoint/2010/main" val="9462139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43490" y="1027664"/>
            <a:ext cx="7024744" cy="601136"/>
          </a:xfrm>
        </p:spPr>
        <p:txBody>
          <a:bodyPr>
            <a:normAutofit fontScale="90000"/>
          </a:bodyPr>
          <a:lstStyle/>
          <a:p>
            <a:r>
              <a:rPr lang="es-MX" dirty="0"/>
              <a:t>INTRODUCCIÓN</a:t>
            </a:r>
          </a:p>
        </p:txBody>
      </p:sp>
      <p:sp>
        <p:nvSpPr>
          <p:cNvPr id="3" name="2 Marcador de contenido"/>
          <p:cNvSpPr>
            <a:spLocks noGrp="1"/>
          </p:cNvSpPr>
          <p:nvPr>
            <p:ph idx="1"/>
          </p:nvPr>
        </p:nvSpPr>
        <p:spPr>
          <a:xfrm>
            <a:off x="1162533" y="1772816"/>
            <a:ext cx="6777317" cy="3508977"/>
          </a:xfrm>
        </p:spPr>
        <p:txBody>
          <a:bodyPr>
            <a:normAutofit fontScale="92500"/>
          </a:bodyPr>
          <a:lstStyle/>
          <a:p>
            <a:pPr lvl="0"/>
            <a:r>
              <a:rPr lang="es-ES" dirty="0"/>
              <a:t>Defina un autómata formalmente y verbalmente (con sus cinco elementos).</a:t>
            </a:r>
          </a:p>
          <a:p>
            <a:pPr lvl="0" indent="450850" eaLnBrk="0" fontAlgn="base" hangingPunct="0">
              <a:spcBef>
                <a:spcPct val="0"/>
              </a:spcBef>
              <a:spcAft>
                <a:spcPct val="0"/>
              </a:spcAft>
            </a:pPr>
            <a:r>
              <a:rPr lang="es-ES" altLang="es-MX" b="1" dirty="0">
                <a:latin typeface="Arial" pitchFamily="34" charset="0"/>
                <a:ea typeface="Times New Roman" pitchFamily="18" charset="0"/>
                <a:cs typeface="Arial" pitchFamily="34" charset="0"/>
              </a:rPr>
              <a:t>M = {Q, Σ, S, F, δ}</a:t>
            </a:r>
            <a:r>
              <a:rPr lang="es-ES" altLang="es-MX" dirty="0">
                <a:latin typeface="Arial" pitchFamily="34" charset="0"/>
                <a:ea typeface="Times New Roman" pitchFamily="18" charset="0"/>
                <a:cs typeface="Arial" pitchFamily="34" charset="0"/>
              </a:rPr>
              <a:t>.</a:t>
            </a:r>
            <a:endParaRPr lang="es-MX" altLang="es-MX" sz="1200" dirty="0">
              <a:latin typeface="Arial" pitchFamily="34" charset="0"/>
              <a:cs typeface="Arial" pitchFamily="34" charset="0"/>
            </a:endParaRPr>
          </a:p>
          <a:p>
            <a:pPr lvl="0" indent="450850" eaLnBrk="0" fontAlgn="base" hangingPunct="0">
              <a:spcBef>
                <a:spcPct val="0"/>
              </a:spcBef>
              <a:spcAft>
                <a:spcPct val="0"/>
              </a:spcAft>
            </a:pPr>
            <a:r>
              <a:rPr lang="es-ES" altLang="es-MX" b="1" dirty="0">
                <a:latin typeface="Arial" pitchFamily="34" charset="0"/>
                <a:ea typeface="Times New Roman" pitchFamily="18" charset="0"/>
                <a:cs typeface="Arial" pitchFamily="34" charset="0"/>
              </a:rPr>
              <a:t>Q</a:t>
            </a:r>
            <a:r>
              <a:rPr lang="es-ES" altLang="es-MX" dirty="0">
                <a:latin typeface="Arial" pitchFamily="34" charset="0"/>
                <a:ea typeface="Times New Roman" pitchFamily="18" charset="0"/>
                <a:cs typeface="Arial" pitchFamily="34" charset="0"/>
              </a:rPr>
              <a:t> = {A, B, C, D</a:t>
            </a:r>
            <a:r>
              <a:rPr lang="es-ES" altLang="es-MX" baseline="-30000" dirty="0">
                <a:latin typeface="Arial" pitchFamily="34" charset="0"/>
                <a:ea typeface="Times New Roman" pitchFamily="18" charset="0"/>
                <a:cs typeface="Arial" pitchFamily="34" charset="0"/>
              </a:rPr>
              <a:t> </a:t>
            </a:r>
            <a:r>
              <a:rPr lang="es-ES" altLang="es-MX" dirty="0">
                <a:latin typeface="Arial" pitchFamily="34" charset="0"/>
                <a:ea typeface="Times New Roman" pitchFamily="18" charset="0"/>
                <a:cs typeface="Arial" pitchFamily="34" charset="0"/>
              </a:rPr>
              <a:t>}</a:t>
            </a:r>
            <a:endParaRPr lang="es-MX" altLang="es-MX" sz="1200" dirty="0">
              <a:latin typeface="Arial" pitchFamily="34" charset="0"/>
              <a:cs typeface="Arial" pitchFamily="34" charset="0"/>
            </a:endParaRPr>
          </a:p>
          <a:p>
            <a:pPr lvl="0" indent="450850" eaLnBrk="0" fontAlgn="base" hangingPunct="0">
              <a:spcBef>
                <a:spcPct val="0"/>
              </a:spcBef>
              <a:spcAft>
                <a:spcPct val="0"/>
              </a:spcAft>
            </a:pPr>
            <a:r>
              <a:rPr lang="es-ES" altLang="es-MX" b="1" dirty="0">
                <a:latin typeface="Arial" pitchFamily="34" charset="0"/>
                <a:ea typeface="Times New Roman" pitchFamily="18" charset="0"/>
                <a:cs typeface="Arial" pitchFamily="34" charset="0"/>
              </a:rPr>
              <a:t>Σ</a:t>
            </a:r>
            <a:r>
              <a:rPr lang="es-ES" altLang="es-MX" dirty="0">
                <a:latin typeface="Arial" pitchFamily="34" charset="0"/>
                <a:ea typeface="Times New Roman" pitchFamily="18" charset="0"/>
                <a:cs typeface="Arial" pitchFamily="34" charset="0"/>
              </a:rPr>
              <a:t> = {0,1}</a:t>
            </a:r>
            <a:endParaRPr lang="es-MX" altLang="es-MX" sz="1200" dirty="0">
              <a:latin typeface="Arial" pitchFamily="34" charset="0"/>
              <a:cs typeface="Arial" pitchFamily="34" charset="0"/>
            </a:endParaRPr>
          </a:p>
          <a:p>
            <a:pPr lvl="0" indent="450850" eaLnBrk="0" fontAlgn="base" hangingPunct="0">
              <a:spcBef>
                <a:spcPct val="0"/>
              </a:spcBef>
              <a:spcAft>
                <a:spcPct val="0"/>
              </a:spcAft>
            </a:pPr>
            <a:r>
              <a:rPr lang="es-ES" altLang="es-MX" b="1" dirty="0">
                <a:latin typeface="Arial" pitchFamily="34" charset="0"/>
                <a:ea typeface="Times New Roman" pitchFamily="18" charset="0"/>
                <a:cs typeface="Arial" pitchFamily="34" charset="0"/>
              </a:rPr>
              <a:t>S</a:t>
            </a:r>
            <a:r>
              <a:rPr lang="es-ES" altLang="es-MX" dirty="0">
                <a:latin typeface="Arial" pitchFamily="34" charset="0"/>
                <a:ea typeface="Times New Roman" pitchFamily="18" charset="0"/>
                <a:cs typeface="Arial" pitchFamily="34" charset="0"/>
              </a:rPr>
              <a:t> = {A}</a:t>
            </a:r>
            <a:endParaRPr lang="es-MX" altLang="es-MX" sz="1200" dirty="0">
              <a:latin typeface="Arial" pitchFamily="34" charset="0"/>
              <a:cs typeface="Arial" pitchFamily="34" charset="0"/>
            </a:endParaRPr>
          </a:p>
          <a:p>
            <a:pPr lvl="0" indent="450850" eaLnBrk="0" fontAlgn="base" hangingPunct="0">
              <a:spcBef>
                <a:spcPct val="0"/>
              </a:spcBef>
              <a:spcAft>
                <a:spcPct val="0"/>
              </a:spcAft>
            </a:pPr>
            <a:r>
              <a:rPr lang="es-ES" altLang="es-MX" b="1" dirty="0">
                <a:latin typeface="Arial" pitchFamily="34" charset="0"/>
                <a:ea typeface="Times New Roman" pitchFamily="18" charset="0"/>
                <a:cs typeface="Arial" pitchFamily="34" charset="0"/>
              </a:rPr>
              <a:t>F</a:t>
            </a:r>
            <a:r>
              <a:rPr lang="es-ES" altLang="es-MX" dirty="0">
                <a:latin typeface="Arial" pitchFamily="34" charset="0"/>
                <a:ea typeface="Times New Roman" pitchFamily="18" charset="0"/>
                <a:cs typeface="Arial" pitchFamily="34" charset="0"/>
              </a:rPr>
              <a:t> = {D}</a:t>
            </a:r>
            <a:endParaRPr lang="es-MX" altLang="es-MX" sz="1200" dirty="0">
              <a:latin typeface="Arial" pitchFamily="34" charset="0"/>
              <a:cs typeface="Arial" pitchFamily="34" charset="0"/>
            </a:endParaRPr>
          </a:p>
          <a:p>
            <a:pPr lvl="0" indent="450850" eaLnBrk="0" fontAlgn="base" hangingPunct="0">
              <a:spcBef>
                <a:spcPct val="0"/>
              </a:spcBef>
              <a:spcAft>
                <a:spcPct val="0"/>
              </a:spcAft>
            </a:pPr>
            <a:r>
              <a:rPr lang="es-ES" altLang="es-MX" b="1" i="1" dirty="0">
                <a:latin typeface="Arial" pitchFamily="34" charset="0"/>
                <a:ea typeface="Times New Roman" pitchFamily="18" charset="0"/>
                <a:cs typeface="Arial" pitchFamily="34" charset="0"/>
              </a:rPr>
              <a:t>δ</a:t>
            </a:r>
            <a:r>
              <a:rPr lang="es-ES" altLang="es-MX" dirty="0">
                <a:latin typeface="Arial" pitchFamily="34" charset="0"/>
                <a:ea typeface="Times New Roman" pitchFamily="18" charset="0"/>
                <a:cs typeface="Arial" pitchFamily="34" charset="0"/>
              </a:rPr>
              <a:t>  = según la siguiente tabla:	</a:t>
            </a:r>
            <a:r>
              <a:rPr lang="es-ES" altLang="es-MX" b="1" dirty="0">
                <a:latin typeface="Arial" pitchFamily="34" charset="0"/>
                <a:ea typeface="Times New Roman" pitchFamily="18" charset="0"/>
                <a:cs typeface="Arial" pitchFamily="34" charset="0"/>
              </a:rPr>
              <a:t>Entradas (alfabeto) = Σ</a:t>
            </a:r>
            <a:endParaRPr lang="es-MX" altLang="es-MX" sz="1200" dirty="0">
              <a:latin typeface="Arial" pitchFamily="34" charset="0"/>
              <a:cs typeface="Arial" pitchFamily="34" charset="0"/>
            </a:endParaRPr>
          </a:p>
          <a:p>
            <a:pPr lvl="0" indent="450850" eaLnBrk="0" fontAlgn="base" hangingPunct="0">
              <a:spcBef>
                <a:spcPct val="0"/>
              </a:spcBef>
              <a:spcAft>
                <a:spcPct val="0"/>
              </a:spcAft>
            </a:pPr>
            <a:r>
              <a:rPr lang="es-ES" altLang="es-MX" b="1" dirty="0">
                <a:latin typeface="Arial" pitchFamily="34" charset="0"/>
                <a:ea typeface="Times New Roman" pitchFamily="18" charset="0"/>
                <a:cs typeface="Arial" pitchFamily="34" charset="0"/>
              </a:rPr>
              <a:t>Estados    0           1                           Finales</a:t>
            </a:r>
          </a:p>
          <a:p>
            <a:pPr lvl="0" indent="0" eaLnBrk="0" fontAlgn="base" hangingPunct="0">
              <a:spcBef>
                <a:spcPct val="0"/>
              </a:spcBef>
              <a:spcAft>
                <a:spcPct val="0"/>
              </a:spcAft>
              <a:buNone/>
            </a:pPr>
            <a:endParaRPr lang="es-ES" altLang="es-MX" sz="3600" dirty="0">
              <a:latin typeface="Arial" pitchFamily="34" charset="0"/>
              <a:cs typeface="Arial" pitchFamily="34" charset="0"/>
            </a:endParaRPr>
          </a:p>
          <a:p>
            <a:endParaRPr lang="es-MX" dirty="0"/>
          </a:p>
          <a:p>
            <a:pPr marL="68580" lvl="0" indent="0">
              <a:buNone/>
            </a:pPr>
            <a:endParaRPr lang="es-MX" dirty="0"/>
          </a:p>
          <a:p>
            <a:endParaRPr lang="es-MX"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5636" y="5157192"/>
            <a:ext cx="5091113"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0305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INTRODUCCIÓN</a:t>
            </a:r>
          </a:p>
        </p:txBody>
      </p:sp>
      <p:sp>
        <p:nvSpPr>
          <p:cNvPr id="3" name="2 Marcador de contenido"/>
          <p:cNvSpPr>
            <a:spLocks noGrp="1"/>
          </p:cNvSpPr>
          <p:nvPr>
            <p:ph idx="1"/>
          </p:nvPr>
        </p:nvSpPr>
        <p:spPr/>
        <p:txBody>
          <a:bodyPr>
            <a:normAutofit fontScale="92500" lnSpcReduction="10000"/>
          </a:bodyPr>
          <a:lstStyle/>
          <a:p>
            <a:pPr lvl="0"/>
            <a:r>
              <a:rPr lang="es-ES" dirty="0"/>
              <a:t>¿Qué son las expresiones regulares?</a:t>
            </a:r>
          </a:p>
          <a:p>
            <a:pPr marL="68580" lvl="0" indent="0">
              <a:buNone/>
            </a:pPr>
            <a:r>
              <a:rPr lang="es-ES" dirty="0"/>
              <a:t>Son representaciones de símbolos en cuatro relaciones:</a:t>
            </a:r>
          </a:p>
          <a:p>
            <a:pPr marL="68580" lvl="0" indent="0">
              <a:buNone/>
            </a:pPr>
            <a:r>
              <a:rPr lang="es-ES" dirty="0"/>
              <a:t>1) CONCATENACIÓN.- unión de símbolos</a:t>
            </a:r>
          </a:p>
          <a:p>
            <a:pPr marL="68580" lvl="0" indent="0">
              <a:buNone/>
            </a:pPr>
            <a:r>
              <a:rPr lang="es-ES" dirty="0"/>
              <a:t>2) DISYUNCIÓN.- Elección de símbolos</a:t>
            </a:r>
          </a:p>
          <a:p>
            <a:pPr marL="68580" lvl="0" indent="0">
              <a:buNone/>
            </a:pPr>
            <a:r>
              <a:rPr lang="es-ES" dirty="0"/>
              <a:t>3) CERRADURA DE KLEENE POSITIVA (+) y Solo incluye la cadena vacía si y solo si, la incluye en la definición del lenguaje.</a:t>
            </a:r>
          </a:p>
          <a:p>
            <a:pPr marL="68580" lvl="0" indent="0">
              <a:buNone/>
            </a:pPr>
            <a:r>
              <a:rPr lang="es-ES" dirty="0"/>
              <a:t>4) CERRADURA DE KLEENE ESTRELLA (*) INCLUYE A la cadena vacía épsilon. </a:t>
            </a:r>
            <a:endParaRPr lang="es-MX" dirty="0"/>
          </a:p>
        </p:txBody>
      </p:sp>
    </p:spTree>
    <p:extLst>
      <p:ext uri="{BB962C8B-B14F-4D97-AF65-F5344CB8AC3E}">
        <p14:creationId xmlns:p14="http://schemas.microsoft.com/office/powerpoint/2010/main" val="28685470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INTRODUCCIÓN</a:t>
            </a:r>
          </a:p>
        </p:txBody>
      </p:sp>
      <p:sp>
        <p:nvSpPr>
          <p:cNvPr id="3" name="2 Marcador de contenido"/>
          <p:cNvSpPr>
            <a:spLocks noGrp="1"/>
          </p:cNvSpPr>
          <p:nvPr>
            <p:ph idx="1"/>
          </p:nvPr>
        </p:nvSpPr>
        <p:spPr/>
        <p:txBody>
          <a:bodyPr/>
          <a:lstStyle/>
          <a:p>
            <a:pPr lvl="0"/>
            <a:r>
              <a:rPr lang="es-ES" dirty="0"/>
              <a:t>¿Para qué sirven las expresiones regulares?</a:t>
            </a:r>
            <a:endParaRPr lang="es-MX" dirty="0"/>
          </a:p>
          <a:p>
            <a:endParaRPr lang="es-MX" dirty="0"/>
          </a:p>
        </p:txBody>
      </p:sp>
    </p:spTree>
    <p:extLst>
      <p:ext uri="{BB962C8B-B14F-4D97-AF65-F5344CB8AC3E}">
        <p14:creationId xmlns:p14="http://schemas.microsoft.com/office/powerpoint/2010/main" val="22495368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43490" y="1027664"/>
            <a:ext cx="7024744" cy="601136"/>
          </a:xfrm>
        </p:spPr>
        <p:txBody>
          <a:bodyPr>
            <a:normAutofit fontScale="90000"/>
          </a:bodyPr>
          <a:lstStyle/>
          <a:p>
            <a:r>
              <a:rPr lang="es-MX" dirty="0"/>
              <a:t>INTRODUCCIÓN</a:t>
            </a:r>
          </a:p>
        </p:txBody>
      </p:sp>
      <p:sp>
        <p:nvSpPr>
          <p:cNvPr id="3" name="2 Marcador de contenido"/>
          <p:cNvSpPr>
            <a:spLocks noGrp="1"/>
          </p:cNvSpPr>
          <p:nvPr>
            <p:ph idx="1"/>
          </p:nvPr>
        </p:nvSpPr>
        <p:spPr>
          <a:xfrm>
            <a:off x="755576" y="1700808"/>
            <a:ext cx="7560840" cy="4131821"/>
          </a:xfrm>
        </p:spPr>
        <p:txBody>
          <a:bodyPr/>
          <a:lstStyle/>
          <a:p>
            <a:pPr lvl="0"/>
            <a:r>
              <a:rPr lang="es-ES" dirty="0"/>
              <a:t>¿Para qué sirven las expresiones regulares?</a:t>
            </a:r>
          </a:p>
          <a:p>
            <a:pPr marL="68580" lvl="0" indent="0">
              <a:buNone/>
            </a:pPr>
            <a:r>
              <a:rPr lang="es-ES" dirty="0"/>
              <a:t>Las expresiones regulares representan un Lenguaje regular que puede ser utilizado para abstraer el comportamiento de sistemas formales, un ejemplo puede ser una calculadora que realiza operaciones básicas de suma (+), resta (-), multiplicación (x o *) y división (/).</a:t>
            </a:r>
          </a:p>
          <a:p>
            <a:pPr marL="68580" lvl="0" indent="0">
              <a:buNone/>
            </a:pPr>
            <a:r>
              <a:rPr lang="es-ES" dirty="0"/>
              <a:t>REALICE EL AUTÓMATA CORRESPONDIENTE.</a:t>
            </a:r>
            <a:endParaRPr lang="es-MX" dirty="0"/>
          </a:p>
          <a:p>
            <a:endParaRPr lang="es-MX" dirty="0"/>
          </a:p>
        </p:txBody>
      </p:sp>
    </p:spTree>
    <p:extLst>
      <p:ext uri="{BB962C8B-B14F-4D97-AF65-F5344CB8AC3E}">
        <p14:creationId xmlns:p14="http://schemas.microsoft.com/office/powerpoint/2010/main" val="2768748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MX" b="1" dirty="0"/>
              <a:t>DESPEDIDA </a:t>
            </a:r>
            <a:r>
              <a:rPr lang="es-ES" b="1" i="1" u="sng" dirty="0"/>
              <a:t>“Deseo que todos mis ESTUDIANTES </a:t>
            </a:r>
            <a:r>
              <a:rPr lang="es-ES" b="1" i="1" u="sng"/>
              <a:t>logren éxito”</a:t>
            </a:r>
            <a:endParaRPr lang="es-MX" b="1" dirty="0"/>
          </a:p>
        </p:txBody>
      </p:sp>
      <p:sp>
        <p:nvSpPr>
          <p:cNvPr id="3" name="2 Marcador de contenido"/>
          <p:cNvSpPr>
            <a:spLocks noGrp="1"/>
          </p:cNvSpPr>
          <p:nvPr>
            <p:ph idx="1"/>
          </p:nvPr>
        </p:nvSpPr>
        <p:spPr/>
        <p:txBody>
          <a:bodyPr>
            <a:normAutofit fontScale="62500" lnSpcReduction="20000"/>
          </a:bodyPr>
          <a:lstStyle/>
          <a:p>
            <a:pPr algn="just"/>
            <a:r>
              <a:rPr lang="es-MX" b="1" dirty="0" err="1"/>
              <a:t>Fisk</a:t>
            </a:r>
            <a:r>
              <a:rPr lang="es-MX" b="1" dirty="0"/>
              <a:t> Peter (2012). “Ingenio Creativo, una guía de innovación para líderes empresariales progresistas y visionarios”. Grupo editorial Patria.</a:t>
            </a:r>
          </a:p>
          <a:p>
            <a:pPr marL="68580" indent="0" algn="just">
              <a:buNone/>
            </a:pPr>
            <a:r>
              <a:rPr lang="es-MX" b="1" dirty="0"/>
              <a:t> </a:t>
            </a:r>
          </a:p>
          <a:p>
            <a:pPr algn="just"/>
            <a:r>
              <a:rPr lang="es-MX" b="1" dirty="0" err="1"/>
              <a:t>Trout</a:t>
            </a:r>
            <a:r>
              <a:rPr lang="es-MX" b="1" dirty="0"/>
              <a:t> </a:t>
            </a:r>
            <a:r>
              <a:rPr lang="es-MX" b="1" dirty="0" err="1"/>
              <a:t>Susan</a:t>
            </a:r>
            <a:r>
              <a:rPr lang="es-MX" b="1" dirty="0"/>
              <a:t> S. (1997). NACIDO PARA SERVIR: La evolución del alma a través del Servicio Alexandria, VA: </a:t>
            </a:r>
            <a:r>
              <a:rPr lang="es-MX" b="1" dirty="0" err="1"/>
              <a:t>Three</a:t>
            </a:r>
            <a:r>
              <a:rPr lang="es-MX" b="1" dirty="0"/>
              <a:t> Roses </a:t>
            </a:r>
            <a:r>
              <a:rPr lang="es-MX" b="1" dirty="0" err="1"/>
              <a:t>Press</a:t>
            </a:r>
            <a:r>
              <a:rPr lang="es-MX" b="1" dirty="0"/>
              <a:t>. </a:t>
            </a:r>
          </a:p>
          <a:p>
            <a:pPr algn="just"/>
            <a:r>
              <a:rPr lang="es-MX" b="1" dirty="0"/>
              <a:t>Sitio en internet: http://www.ias-online.org/portals/service</a:t>
            </a:r>
          </a:p>
          <a:p>
            <a:pPr marL="68580" indent="0" algn="just">
              <a:buNone/>
            </a:pPr>
            <a:r>
              <a:rPr lang="es-MX" b="1" dirty="0"/>
              <a:t> </a:t>
            </a:r>
          </a:p>
          <a:p>
            <a:pPr algn="just"/>
            <a:r>
              <a:rPr lang="es-MX" b="1" dirty="0"/>
              <a:t>Sánchez Ángeles José Augusto (2009) RESPONSABILIDAD SOCIAL UNIVERSITARIA.: Una aproximación desde la ética cívica y los derechos humanos Escuela Superior de Comercio y Administración, Unidad Santo Tomás. Marzo.</a:t>
            </a:r>
          </a:p>
          <a:p>
            <a:pPr marL="68580" indent="0" algn="just">
              <a:buNone/>
            </a:pPr>
            <a:r>
              <a:rPr lang="es-MX" b="1" dirty="0"/>
              <a:t> </a:t>
            </a:r>
          </a:p>
          <a:p>
            <a:pPr algn="just"/>
            <a:r>
              <a:rPr lang="es-MX" b="1" dirty="0"/>
              <a:t>Constitución Política de los Estados Unidos Mexicanos. Actualización empleada: junio 2013</a:t>
            </a:r>
          </a:p>
          <a:p>
            <a:pPr algn="just"/>
            <a:endParaRPr lang="es-MX" b="1"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2386013"/>
            <a:ext cx="6840760" cy="33472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4 CuadroTexto"/>
          <p:cNvSpPr txBox="1"/>
          <p:nvPr/>
        </p:nvSpPr>
        <p:spPr>
          <a:xfrm>
            <a:off x="5148064" y="260648"/>
            <a:ext cx="2448272" cy="646331"/>
          </a:xfrm>
          <a:prstGeom prst="rect">
            <a:avLst/>
          </a:prstGeom>
          <a:noFill/>
        </p:spPr>
        <p:txBody>
          <a:bodyPr wrap="square" rtlCol="0">
            <a:spAutoFit/>
          </a:bodyPr>
          <a:lstStyle/>
          <a:p>
            <a:r>
              <a:rPr lang="es-MX" b="1" dirty="0" err="1">
                <a:solidFill>
                  <a:schemeClr val="bg1"/>
                </a:solidFill>
              </a:rPr>
              <a:t>smendez@ipn-mx</a:t>
            </a:r>
            <a:endParaRPr lang="es-MX" b="1" dirty="0">
              <a:solidFill>
                <a:schemeClr val="bg1"/>
              </a:solidFill>
            </a:endParaRPr>
          </a:p>
          <a:p>
            <a:endParaRPr lang="es-MX" dirty="0"/>
          </a:p>
        </p:txBody>
      </p:sp>
    </p:spTree>
    <p:extLst>
      <p:ext uri="{BB962C8B-B14F-4D97-AF65-F5344CB8AC3E}">
        <p14:creationId xmlns:p14="http://schemas.microsoft.com/office/powerpoint/2010/main" val="3584427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6929</TotalTime>
  <Words>1212</Words>
  <Application>Microsoft Office PowerPoint</Application>
  <PresentationFormat>Presentación en pantalla (4:3)</PresentationFormat>
  <Paragraphs>115</Paragraphs>
  <Slides>25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25</vt:i4>
      </vt:variant>
    </vt:vector>
  </HeadingPairs>
  <TitlesOfParts>
    <vt:vector size="30" baseType="lpstr">
      <vt:lpstr>Arial</vt:lpstr>
      <vt:lpstr>Calibri</vt:lpstr>
      <vt:lpstr>Century Gothic</vt:lpstr>
      <vt:lpstr>Wingdings 2</vt:lpstr>
      <vt:lpstr>Austin</vt:lpstr>
      <vt:lpstr> Diferencias y Analogías entre cibernética, computación e informática.</vt:lpstr>
      <vt:lpstr>OBJETIVO</vt:lpstr>
      <vt:lpstr>INTRODUCCIÓN</vt:lpstr>
      <vt:lpstr>Analogías entre Cibernética, Computación e Informática.</vt:lpstr>
      <vt:lpstr>INTRODUCCIÓN</vt:lpstr>
      <vt:lpstr>INTRODUCCIÓN</vt:lpstr>
      <vt:lpstr>INTRODUCCIÓN.</vt:lpstr>
      <vt:lpstr>INTRODUCCIÓN.</vt:lpstr>
      <vt:lpstr>INTRODUCCIÓN</vt:lpstr>
      <vt:lpstr>INTRODUCCIÓN</vt:lpstr>
      <vt:lpstr>INTRODUCCIÓN</vt:lpstr>
      <vt:lpstr>INTRODUCCIÓN</vt:lpstr>
      <vt:lpstr>INTRODUCCIÓN</vt:lpstr>
      <vt:lpstr>INTRODUCCIÓN</vt:lpstr>
      <vt:lpstr>INTRODUCCIÓN</vt:lpstr>
      <vt:lpstr>INTRODUCCIÓN</vt:lpstr>
      <vt:lpstr>INTRODUCCIÓN</vt:lpstr>
      <vt:lpstr>INTRODUCCIÓN</vt:lpstr>
      <vt:lpstr>INTRODUCCIÓN</vt:lpstr>
      <vt:lpstr>INTRODUCCIÓN</vt:lpstr>
      <vt:lpstr>INTRODUCCIÓN</vt:lpstr>
      <vt:lpstr>INTRODUCCIÓN</vt:lpstr>
      <vt:lpstr>INTRODUCCIÓN</vt:lpstr>
      <vt:lpstr>INTRODUCCIÓN</vt:lpstr>
      <vt:lpstr>DESPEDIDA “Deseo que todos mis ESTUDIANTES logren éxito”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Desarrolla tu potencial en la U.P.I.I.C.S.A.</dc:title>
  <dc:creator>Usuario</dc:creator>
  <cp:lastModifiedBy>Sara Mendez Garcia</cp:lastModifiedBy>
  <cp:revision>114</cp:revision>
  <dcterms:created xsi:type="dcterms:W3CDTF">2012-06-21T23:40:23Z</dcterms:created>
  <dcterms:modified xsi:type="dcterms:W3CDTF">2026-04-21T01:06:06Z</dcterms:modified>
</cp:coreProperties>
</file>