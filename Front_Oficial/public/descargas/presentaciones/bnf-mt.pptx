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75" autoAdjust="0"/>
    <p:restoredTop sz="94660"/>
  </p:normalViewPr>
  <p:slideViewPr>
    <p:cSldViewPr snapToGrid="0">
      <p:cViewPr varScale="1">
        <p:scale>
          <a:sx n="63" d="100"/>
          <a:sy n="63" d="100"/>
        </p:scale>
        <p:origin x="1000"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6/14/2026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‹Nº›</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6/14/2026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dirty="0"/>
              <a:t>6/14/2026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6/14/2026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6/14/2026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6/14/2026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6/14/2026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dirty="0"/>
              <a:t>6/14/2026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6C4C9A-3960-41CF-A4E9-2A8FB932454B}" type="datetimeFigureOut">
              <a:rPr lang="en-US" dirty="0"/>
              <a:t>6/14/2026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6/14/2026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6/14/2026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6/14/2026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‹Nº›</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75D569-B4EA-462C-99A6-7AEB53280E06}"/>
              </a:ext>
            </a:extLst>
          </p:cNvPr>
          <p:cNvSpPr>
            <a:spLocks noGrp="1"/>
          </p:cNvSpPr>
          <p:nvPr>
            <p:ph type="ctrTitle"/>
          </p:nvPr>
        </p:nvSpPr>
        <p:spPr>
          <a:xfrm>
            <a:off x="922421" y="1432560"/>
            <a:ext cx="7603958" cy="4727608"/>
          </a:xfrm>
        </p:spPr>
        <p:txBody>
          <a:bodyPr>
            <a:normAutofit fontScale="90000"/>
          </a:bodyPr>
          <a:lstStyle/>
          <a:p>
            <a:br>
              <a:rPr lang="es-MX" sz="4400" dirty="0"/>
            </a:br>
            <a:r>
              <a:rPr lang="es-MX" sz="4400" dirty="0"/>
              <a:t>Las máquinas de Turing (</a:t>
            </a:r>
            <a:r>
              <a:rPr lang="es-MX" sz="4400" dirty="0" err="1"/>
              <a:t>MT´s</a:t>
            </a:r>
            <a:r>
              <a:rPr lang="es-MX" sz="4400" dirty="0"/>
              <a:t>) son modelos matemáticos que consideran un almacenamiento en cinta.</a:t>
            </a:r>
            <a:br>
              <a:rPr lang="es-MX" sz="4400" dirty="0"/>
            </a:br>
            <a:r>
              <a:rPr lang="es-MX" sz="4400" dirty="0"/>
              <a:t>Este BNF es sobre la primera MT que se construyó con una cinta infinita de lado izquierdo y derecho con lenguaje binario</a:t>
            </a:r>
            <a:r>
              <a:rPr lang="es-MX" dirty="0"/>
              <a:t>.</a:t>
            </a:r>
          </a:p>
        </p:txBody>
      </p:sp>
      <p:sp>
        <p:nvSpPr>
          <p:cNvPr id="3" name="Subtítulo 2">
            <a:extLst>
              <a:ext uri="{FF2B5EF4-FFF2-40B4-BE49-F238E27FC236}">
                <a16:creationId xmlns:a16="http://schemas.microsoft.com/office/drawing/2014/main" id="{CBE22B27-9476-47D7-85DD-B257E07C3F26}"/>
              </a:ext>
            </a:extLst>
          </p:cNvPr>
          <p:cNvSpPr>
            <a:spLocks noGrp="1"/>
          </p:cNvSpPr>
          <p:nvPr>
            <p:ph type="subTitle" idx="1"/>
          </p:nvPr>
        </p:nvSpPr>
        <p:spPr>
          <a:xfrm>
            <a:off x="1473199" y="199992"/>
            <a:ext cx="7053179" cy="1160213"/>
          </a:xfrm>
        </p:spPr>
        <p:txBody>
          <a:bodyPr/>
          <a:lstStyle/>
          <a:p>
            <a:r>
              <a:rPr lang="es-MX" dirty="0"/>
              <a:t>PROPUESTA PARA UN BNF DEL LA PRIMERA MÁQUINA DE TURING</a:t>
            </a:r>
          </a:p>
        </p:txBody>
      </p:sp>
    </p:spTree>
    <p:extLst>
      <p:ext uri="{BB962C8B-B14F-4D97-AF65-F5344CB8AC3E}">
        <p14:creationId xmlns:p14="http://schemas.microsoft.com/office/powerpoint/2010/main" val="3681502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C82E1B-B5BC-4C62-B8AC-E847F59154A7}"/>
              </a:ext>
            </a:extLst>
          </p:cNvPr>
          <p:cNvSpPr>
            <a:spLocks noGrp="1"/>
          </p:cNvSpPr>
          <p:nvPr>
            <p:ph type="title"/>
          </p:nvPr>
        </p:nvSpPr>
        <p:spPr/>
        <p:txBody>
          <a:bodyPr>
            <a:normAutofit/>
          </a:bodyPr>
          <a:lstStyle/>
          <a:p>
            <a:r>
              <a:rPr lang="es-MX" sz="5400" dirty="0"/>
              <a:t>¿QUIEN fue?</a:t>
            </a:r>
          </a:p>
        </p:txBody>
      </p:sp>
      <p:sp>
        <p:nvSpPr>
          <p:cNvPr id="3" name="Marcador de contenido 2">
            <a:extLst>
              <a:ext uri="{FF2B5EF4-FFF2-40B4-BE49-F238E27FC236}">
                <a16:creationId xmlns:a16="http://schemas.microsoft.com/office/drawing/2014/main" id="{C2E67CDC-3367-42F5-A97E-DE08AF0866D2}"/>
              </a:ext>
            </a:extLst>
          </p:cNvPr>
          <p:cNvSpPr>
            <a:spLocks noGrp="1"/>
          </p:cNvSpPr>
          <p:nvPr>
            <p:ph idx="1"/>
          </p:nvPr>
        </p:nvSpPr>
        <p:spPr>
          <a:xfrm>
            <a:off x="2611808" y="1772653"/>
            <a:ext cx="7958331" cy="4644189"/>
          </a:xfrm>
        </p:spPr>
        <p:txBody>
          <a:bodyPr/>
          <a:lstStyle/>
          <a:p>
            <a:pPr indent="344488" algn="just"/>
            <a:r>
              <a:rPr lang="es-MX" b="0" i="0" dirty="0">
                <a:effectLst/>
                <a:latin typeface="Roboto"/>
              </a:rPr>
              <a:t>Alan Mathison Turing fue un matemático, lógico, científico de la computación, filósofo, criptógrafo e incluso maratonista. Es considerado como uno de los más grandes pioneros de la computación, precursor de la informática moderna, padre de la inteligencia artificial creador de la prueba de “Turing” ¿Superada? </a:t>
            </a:r>
          </a:p>
          <a:p>
            <a:pPr indent="344488" algn="just"/>
            <a:r>
              <a:rPr lang="es-MX" b="0" i="0" dirty="0">
                <a:effectLst/>
                <a:latin typeface="Roboto"/>
              </a:rPr>
              <a:t>Proporcionó una influyente formalización de los conceptos de algoritmo y computación a través de la “primera” Máquina de Turing. Formuló su propia versión que hoy en día es ampliamente aceptada como la tesis de </a:t>
            </a:r>
            <a:r>
              <a:rPr lang="es-MX" b="0" i="0" dirty="0" err="1">
                <a:effectLst/>
                <a:latin typeface="Roboto"/>
              </a:rPr>
              <a:t>Church</a:t>
            </a:r>
            <a:r>
              <a:rPr lang="es-MX" b="0" i="0" dirty="0">
                <a:effectLst/>
                <a:latin typeface="Roboto"/>
              </a:rPr>
              <a:t>-Turing de 1936. Además, fue él quien pronosticó el concepto de la inteligencia artificial y los virus computacionales.</a:t>
            </a:r>
            <a:endParaRPr lang="es-MX" dirty="0"/>
          </a:p>
        </p:txBody>
      </p:sp>
      <p:pic>
        <p:nvPicPr>
          <p:cNvPr id="1028" name="Picture 4" descr="Turing, Al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231" y="0"/>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676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E00DF5-7949-4A05-A8AA-079D46E8823A}"/>
              </a:ext>
            </a:extLst>
          </p:cNvPr>
          <p:cNvSpPr>
            <a:spLocks noGrp="1"/>
          </p:cNvSpPr>
          <p:nvPr>
            <p:ph type="title"/>
          </p:nvPr>
        </p:nvSpPr>
        <p:spPr>
          <a:xfrm>
            <a:off x="2564915" y="104671"/>
            <a:ext cx="7958331" cy="1077229"/>
          </a:xfrm>
        </p:spPr>
        <p:txBody>
          <a:bodyPr/>
          <a:lstStyle/>
          <a:p>
            <a:r>
              <a:rPr lang="es-MX" dirty="0"/>
              <a:t>¿Qué es </a:t>
            </a:r>
            <a:r>
              <a:rPr lang="es-MX"/>
              <a:t>la  primera </a:t>
            </a:r>
            <a:r>
              <a:rPr lang="es-MX" dirty="0"/>
              <a:t>Maquina de Turing?</a:t>
            </a:r>
          </a:p>
        </p:txBody>
      </p:sp>
      <p:sp>
        <p:nvSpPr>
          <p:cNvPr id="3" name="Marcador de contenido 2">
            <a:extLst>
              <a:ext uri="{FF2B5EF4-FFF2-40B4-BE49-F238E27FC236}">
                <a16:creationId xmlns:a16="http://schemas.microsoft.com/office/drawing/2014/main" id="{76F544BC-00D7-4C00-8E46-1BEABB25FC54}"/>
              </a:ext>
            </a:extLst>
          </p:cNvPr>
          <p:cNvSpPr>
            <a:spLocks noGrp="1"/>
          </p:cNvSpPr>
          <p:nvPr>
            <p:ph idx="1"/>
          </p:nvPr>
        </p:nvSpPr>
        <p:spPr>
          <a:xfrm>
            <a:off x="1254369" y="1346670"/>
            <a:ext cx="9964616" cy="4034222"/>
          </a:xfrm>
        </p:spPr>
        <p:txBody>
          <a:bodyPr/>
          <a:lstStyle/>
          <a:p>
            <a:pPr marL="0" indent="0">
              <a:buNone/>
            </a:pPr>
            <a:endParaRPr lang="es-MX" dirty="0"/>
          </a:p>
          <a:p>
            <a:pPr marL="0" indent="0">
              <a:buNone/>
            </a:pPr>
            <a:r>
              <a:rPr lang="es-MX" dirty="0"/>
              <a:t>La Máquina de Turing es un concepto de máquinas teóricas “abstractas” capaces de ejecutar cualquier algoritmo, un conjunto de tareas e instrucciones precisas con fin de llegar a un proceso factible aún infinito.</a:t>
            </a:r>
          </a:p>
        </p:txBody>
      </p:sp>
      <p:pic>
        <p:nvPicPr>
          <p:cNvPr id="1026" name="Picture 2">
            <a:extLst>
              <a:ext uri="{FF2B5EF4-FFF2-40B4-BE49-F238E27FC236}">
                <a16:creationId xmlns:a16="http://schemas.microsoft.com/office/drawing/2014/main" id="{91CF7C90-19B5-40A1-B52D-B81E82E0D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3119" y="4194259"/>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061" y="926856"/>
            <a:ext cx="3571875"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8503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8A38BC-92D9-4176-9EB8-42C9FA84C22A}"/>
              </a:ext>
            </a:extLst>
          </p:cNvPr>
          <p:cNvSpPr>
            <a:spLocks noGrp="1"/>
          </p:cNvSpPr>
          <p:nvPr>
            <p:ph idx="1"/>
          </p:nvPr>
        </p:nvSpPr>
        <p:spPr>
          <a:xfrm>
            <a:off x="1669183" y="64168"/>
            <a:ext cx="8853634" cy="5432323"/>
          </a:xfrm>
        </p:spPr>
        <p:txBody>
          <a:bodyPr/>
          <a:lstStyle/>
          <a:p>
            <a:pPr algn="just"/>
            <a:r>
              <a:rPr lang="es-MX" dirty="0"/>
              <a:t>La máquina de Turing modela matemáticamente a una máquina que opera mecánicamente sobre una cinta. En esta cinta hay símbolos que la máquina puede leer y escribir, uno a la vez, usando un cabezal lector/escritor de cinta. </a:t>
            </a:r>
          </a:p>
          <a:p>
            <a:pPr algn="just"/>
            <a:r>
              <a:rPr lang="es-MX" dirty="0"/>
              <a:t>La operación está completamente determinada por un conjunto finito de instrucciones elementales como "en el estado 42, si el símbolo visto es 0, escribe un 1”</a:t>
            </a:r>
          </a:p>
        </p:txBody>
      </p:sp>
      <p:pic>
        <p:nvPicPr>
          <p:cNvPr id="2052" name="Picture 4">
            <a:extLst>
              <a:ext uri="{FF2B5EF4-FFF2-40B4-BE49-F238E27FC236}">
                <a16:creationId xmlns:a16="http://schemas.microsoft.com/office/drawing/2014/main" id="{0594BC7D-84A9-48B3-B57C-FF49AC0CBC05}"/>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274511" y="4703095"/>
            <a:ext cx="6054976" cy="1433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207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86577-8612-48A8-AF91-DE65BE0CA798}"/>
              </a:ext>
            </a:extLst>
          </p:cNvPr>
          <p:cNvSpPr>
            <a:spLocks noGrp="1"/>
          </p:cNvSpPr>
          <p:nvPr>
            <p:ph type="title"/>
          </p:nvPr>
        </p:nvSpPr>
        <p:spPr>
          <a:xfrm>
            <a:off x="2611808" y="550042"/>
            <a:ext cx="7958331" cy="1077229"/>
          </a:xfrm>
        </p:spPr>
        <p:txBody>
          <a:bodyPr/>
          <a:lstStyle/>
          <a:p>
            <a:r>
              <a:rPr lang="es-MX" dirty="0"/>
              <a:t>CARACTERISTICAS</a:t>
            </a:r>
          </a:p>
        </p:txBody>
      </p:sp>
      <p:sp>
        <p:nvSpPr>
          <p:cNvPr id="3" name="Marcador de contenido 2">
            <a:extLst>
              <a:ext uri="{FF2B5EF4-FFF2-40B4-BE49-F238E27FC236}">
                <a16:creationId xmlns:a16="http://schemas.microsoft.com/office/drawing/2014/main" id="{1AD784A3-3584-4B46-9C6A-F6FA806EC7DD}"/>
              </a:ext>
            </a:extLst>
          </p:cNvPr>
          <p:cNvSpPr>
            <a:spLocks noGrp="1"/>
          </p:cNvSpPr>
          <p:nvPr>
            <p:ph idx="1"/>
          </p:nvPr>
        </p:nvSpPr>
        <p:spPr>
          <a:xfrm>
            <a:off x="1524000" y="1088656"/>
            <a:ext cx="9046139" cy="5496628"/>
          </a:xfrm>
        </p:spPr>
        <p:txBody>
          <a:bodyPr>
            <a:normAutofit/>
          </a:bodyPr>
          <a:lstStyle/>
          <a:p>
            <a:pPr marL="0" indent="0">
              <a:buNone/>
            </a:pPr>
            <a:r>
              <a:rPr lang="es-MX" sz="1200" dirty="0"/>
              <a:t>Se compone de:</a:t>
            </a:r>
          </a:p>
          <a:p>
            <a:r>
              <a:rPr lang="es-MX" sz="1200" dirty="0"/>
              <a:t>Una cinta infinita que se divide en celdas, una al lado de la otra. Cada celda contiene un símbolo de algún alfabeto finito. </a:t>
            </a:r>
          </a:p>
          <a:p>
            <a:r>
              <a:rPr lang="es-MX" sz="1200" dirty="0"/>
              <a:t>Un cabezal que puede leer y escribir símbolos en la </a:t>
            </a:r>
          </a:p>
          <a:p>
            <a:pPr marL="0" indent="0">
              <a:buNone/>
            </a:pPr>
            <a:r>
              <a:rPr lang="es-MX" sz="1200" dirty="0"/>
              <a:t>cinta y mover la cinta a la izquierda y a la derecha una </a:t>
            </a:r>
          </a:p>
          <a:p>
            <a:pPr marL="0" indent="0">
              <a:buNone/>
            </a:pPr>
            <a:r>
              <a:rPr lang="es-MX" sz="1200" dirty="0"/>
              <a:t>(y sólo una) celda a la vez.</a:t>
            </a:r>
          </a:p>
          <a:p>
            <a:r>
              <a:rPr lang="es-MX" sz="1200" dirty="0"/>
              <a:t>Un registro de estado que almacena el estado de la </a:t>
            </a:r>
          </a:p>
          <a:p>
            <a:pPr marL="0" indent="0">
              <a:buNone/>
            </a:pPr>
            <a:r>
              <a:rPr lang="es-MX" sz="1200" dirty="0"/>
              <a:t>máquina de Turing, uno de los estados finitos</a:t>
            </a:r>
          </a:p>
          <a:p>
            <a:r>
              <a:rPr lang="es-MX" sz="1200" dirty="0"/>
              <a:t>Una tabla finita de instrucciones. Las instrucciones son usualmente </a:t>
            </a:r>
          </a:p>
          <a:p>
            <a:pPr marL="0" indent="0">
              <a:buNone/>
            </a:pPr>
            <a:r>
              <a:rPr lang="es-MX" sz="1200" dirty="0"/>
              <a:t>5-tuplas: qiaj→qi1aj1dk, que, dado el estado (</a:t>
            </a:r>
            <a:r>
              <a:rPr lang="es-MX" sz="1200" dirty="0" err="1"/>
              <a:t>qi</a:t>
            </a:r>
            <a:r>
              <a:rPr lang="es-MX" sz="1200" dirty="0"/>
              <a:t>) en que la máquina </a:t>
            </a:r>
          </a:p>
          <a:p>
            <a:pPr marL="0" indent="0">
              <a:buNone/>
            </a:pPr>
            <a:r>
              <a:rPr lang="es-MX" sz="1200" dirty="0"/>
              <a:t>se encuentra actualmente y el símbolo (aj) que se está leyendo en la </a:t>
            </a:r>
          </a:p>
          <a:p>
            <a:pPr marL="0" indent="0">
              <a:buNone/>
            </a:pPr>
            <a:r>
              <a:rPr lang="es-MX" sz="1200" dirty="0"/>
              <a:t>cinta (el símbolo actualmente debajo del cabezal) le indica a la máquina </a:t>
            </a:r>
          </a:p>
          <a:p>
            <a:pPr marL="0" indent="0">
              <a:buNone/>
            </a:pPr>
            <a:r>
              <a:rPr lang="es-MX" sz="1200" dirty="0"/>
              <a:t>hacer lo siguiente en secuencia. </a:t>
            </a:r>
          </a:p>
        </p:txBody>
      </p:sp>
      <p:pic>
        <p:nvPicPr>
          <p:cNvPr id="3074" name="Picture 2">
            <a:extLst>
              <a:ext uri="{FF2B5EF4-FFF2-40B4-BE49-F238E27FC236}">
                <a16:creationId xmlns:a16="http://schemas.microsoft.com/office/drawing/2014/main" id="{6D29AB5D-1EA3-4E49-A62D-FC47FB21841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157784" y="2856530"/>
            <a:ext cx="3036973" cy="303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8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DBE706-AE94-44FD-8271-20FDA4CFFF04}"/>
              </a:ext>
            </a:extLst>
          </p:cNvPr>
          <p:cNvSpPr>
            <a:spLocks noGrp="1"/>
          </p:cNvSpPr>
          <p:nvPr>
            <p:ph type="title"/>
          </p:nvPr>
        </p:nvSpPr>
        <p:spPr/>
        <p:txBody>
          <a:bodyPr/>
          <a:lstStyle/>
          <a:p>
            <a:r>
              <a:rPr lang="es-MX" dirty="0"/>
              <a:t>La primera Maquina de Turing</a:t>
            </a:r>
          </a:p>
        </p:txBody>
      </p:sp>
      <p:sp>
        <p:nvSpPr>
          <p:cNvPr id="3" name="Marcador de contenido 2">
            <a:extLst>
              <a:ext uri="{FF2B5EF4-FFF2-40B4-BE49-F238E27FC236}">
                <a16:creationId xmlns:a16="http://schemas.microsoft.com/office/drawing/2014/main" id="{37C04D5B-3EB9-4825-BCE2-954FF2F5D7A4}"/>
              </a:ext>
            </a:extLst>
          </p:cNvPr>
          <p:cNvSpPr>
            <a:spLocks noGrp="1"/>
          </p:cNvSpPr>
          <p:nvPr>
            <p:ph idx="1"/>
          </p:nvPr>
        </p:nvSpPr>
        <p:spPr>
          <a:xfrm>
            <a:off x="2476820" y="1430086"/>
            <a:ext cx="7796540" cy="3997828"/>
          </a:xfrm>
        </p:spPr>
        <p:txBody>
          <a:bodyPr/>
          <a:lstStyle/>
          <a:p>
            <a:r>
              <a:rPr lang="es-MX" dirty="0"/>
              <a:t>Basada en 1950 en un diseño de Turing, fue la primera computadora electrónica desarrollada en Gran Bretaña. Es el desarrollo práctico (no mecánico) de la máquina universal de Turing. Almacenaba un programa en su memoria y gestionaba un lenguaje de programación, el </a:t>
            </a:r>
            <a:r>
              <a:rPr lang="es-MX" dirty="0" err="1"/>
              <a:t>Abbreviated</a:t>
            </a:r>
            <a:r>
              <a:rPr lang="es-MX" dirty="0"/>
              <a:t> </a:t>
            </a:r>
            <a:r>
              <a:rPr lang="es-MX" dirty="0" err="1"/>
              <a:t>Computer</a:t>
            </a:r>
            <a:r>
              <a:rPr lang="es-MX" dirty="0"/>
              <a:t> </a:t>
            </a:r>
            <a:r>
              <a:rPr lang="es-MX" dirty="0" err="1"/>
              <a:t>Instructions</a:t>
            </a:r>
            <a:r>
              <a:rPr lang="es-MX" dirty="0"/>
              <a:t>.</a:t>
            </a:r>
          </a:p>
        </p:txBody>
      </p:sp>
      <p:pic>
        <p:nvPicPr>
          <p:cNvPr id="4098" name="Picture 2">
            <a:extLst>
              <a:ext uri="{FF2B5EF4-FFF2-40B4-BE49-F238E27FC236}">
                <a16:creationId xmlns:a16="http://schemas.microsoft.com/office/drawing/2014/main" id="{A66C951C-6E35-49D3-B0FC-3EA6DBDEE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2147" y="4320758"/>
            <a:ext cx="3734553" cy="235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437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64CD98-CA91-481B-8112-42026047F7A2}"/>
              </a:ext>
            </a:extLst>
          </p:cNvPr>
          <p:cNvSpPr>
            <a:spLocks noGrp="1"/>
          </p:cNvSpPr>
          <p:nvPr>
            <p:ph type="title"/>
          </p:nvPr>
        </p:nvSpPr>
        <p:spPr>
          <a:xfrm>
            <a:off x="2581328" y="396240"/>
            <a:ext cx="7958331" cy="705784"/>
          </a:xfrm>
        </p:spPr>
        <p:txBody>
          <a:bodyPr>
            <a:normAutofit/>
          </a:bodyPr>
          <a:lstStyle/>
          <a:p>
            <a:r>
              <a:rPr lang="es-MX" sz="4000" dirty="0"/>
              <a:t>MT EN BNF</a:t>
            </a:r>
          </a:p>
        </p:txBody>
      </p:sp>
      <p:sp>
        <p:nvSpPr>
          <p:cNvPr id="3" name="Marcador de contenido 2">
            <a:extLst>
              <a:ext uri="{FF2B5EF4-FFF2-40B4-BE49-F238E27FC236}">
                <a16:creationId xmlns:a16="http://schemas.microsoft.com/office/drawing/2014/main" id="{0DD05366-96EA-4610-8668-C9C16C24484A}"/>
              </a:ext>
            </a:extLst>
          </p:cNvPr>
          <p:cNvSpPr>
            <a:spLocks noGrp="1"/>
          </p:cNvSpPr>
          <p:nvPr>
            <p:ph idx="1"/>
          </p:nvPr>
        </p:nvSpPr>
        <p:spPr>
          <a:xfrm>
            <a:off x="1621860" y="1102025"/>
            <a:ext cx="9350939" cy="5359736"/>
          </a:xfrm>
        </p:spPr>
        <p:txBody>
          <a:bodyPr>
            <a:normAutofit lnSpcReduction="10000"/>
          </a:bodyPr>
          <a:lstStyle/>
          <a:p>
            <a:r>
              <a:rPr lang="es-MX" dirty="0"/>
              <a:t>&lt;MT&gt; ::= </a:t>
            </a:r>
            <a:r>
              <a:rPr lang="es-MX" dirty="0">
                <a:solidFill>
                  <a:schemeClr val="tx2"/>
                </a:solidFill>
              </a:rPr>
              <a:t>&lt;cinta&gt;</a:t>
            </a:r>
            <a:r>
              <a:rPr lang="es-MX" dirty="0"/>
              <a:t> </a:t>
            </a:r>
            <a:r>
              <a:rPr lang="es-MX" dirty="0">
                <a:solidFill>
                  <a:srgbClr val="FFFF00"/>
                </a:solidFill>
              </a:rPr>
              <a:t>&lt;cabezal&gt;</a:t>
            </a:r>
            <a:r>
              <a:rPr lang="es-MX" dirty="0"/>
              <a:t> </a:t>
            </a:r>
            <a:endParaRPr lang="es-MX" dirty="0">
              <a:solidFill>
                <a:srgbClr val="FFFF00"/>
              </a:solidFill>
            </a:endParaRPr>
          </a:p>
          <a:p>
            <a:r>
              <a:rPr lang="es-MX" dirty="0">
                <a:solidFill>
                  <a:schemeClr val="tx2"/>
                </a:solidFill>
              </a:rPr>
              <a:t>&lt;cinta&gt; </a:t>
            </a:r>
            <a:r>
              <a:rPr lang="es-MX" dirty="0"/>
              <a:t>::= </a:t>
            </a:r>
            <a:r>
              <a:rPr lang="es-MX" dirty="0">
                <a:solidFill>
                  <a:schemeClr val="accent4">
                    <a:lumMod val="75000"/>
                  </a:schemeClr>
                </a:solidFill>
              </a:rPr>
              <a:t>&lt;n-casillas&gt;</a:t>
            </a:r>
            <a:r>
              <a:rPr lang="es-MX" dirty="0">
                <a:solidFill>
                  <a:srgbClr val="00B0F0"/>
                </a:solidFill>
              </a:rPr>
              <a:t>[&lt;infinitas&gt;]</a:t>
            </a:r>
            <a:r>
              <a:rPr lang="es-MX" dirty="0"/>
              <a:t>  </a:t>
            </a:r>
          </a:p>
          <a:p>
            <a:r>
              <a:rPr lang="es-MX" dirty="0">
                <a:solidFill>
                  <a:srgbClr val="FFFF00"/>
                </a:solidFill>
              </a:rPr>
              <a:t>&lt;cabezal&gt; </a:t>
            </a:r>
            <a:r>
              <a:rPr lang="es-MX" dirty="0"/>
              <a:t>::= [leer | escribir] &lt;datos lectura-escritura&gt; </a:t>
            </a:r>
          </a:p>
          <a:p>
            <a:r>
              <a:rPr lang="es-MX" dirty="0">
                <a:solidFill>
                  <a:schemeClr val="accent4">
                    <a:lumMod val="75000"/>
                  </a:schemeClr>
                </a:solidFill>
              </a:rPr>
              <a:t>&lt;n-casillas&gt;</a:t>
            </a:r>
            <a:r>
              <a:rPr lang="es-MX" dirty="0"/>
              <a:t> ::= </a:t>
            </a:r>
            <a:r>
              <a:rPr lang="es-MX" dirty="0">
                <a:solidFill>
                  <a:schemeClr val="accent1">
                    <a:lumMod val="75000"/>
                  </a:schemeClr>
                </a:solidFill>
              </a:rPr>
              <a:t>&lt;desplazarse&gt;</a:t>
            </a:r>
            <a:r>
              <a:rPr lang="es-MX" dirty="0"/>
              <a:t> </a:t>
            </a:r>
            <a:r>
              <a:rPr lang="es-MX" dirty="0">
                <a:solidFill>
                  <a:schemeClr val="accent4">
                    <a:lumMod val="75000"/>
                  </a:schemeClr>
                </a:solidFill>
              </a:rPr>
              <a:t>&lt;n-casillas&gt; </a:t>
            </a:r>
            <a:r>
              <a:rPr lang="es-MX" dirty="0"/>
              <a:t>|</a:t>
            </a:r>
            <a:r>
              <a:rPr lang="es-MX" dirty="0">
                <a:solidFill>
                  <a:schemeClr val="accent4">
                    <a:lumMod val="75000"/>
                  </a:schemeClr>
                </a:solidFill>
              </a:rPr>
              <a:t> </a:t>
            </a:r>
            <a:r>
              <a:rPr lang="es-MX" dirty="0"/>
              <a:t>[0-9]+ </a:t>
            </a:r>
          </a:p>
          <a:p>
            <a:r>
              <a:rPr lang="es-MX" dirty="0">
                <a:solidFill>
                  <a:srgbClr val="00B0F0"/>
                </a:solidFill>
              </a:rPr>
              <a:t>&lt;infinitas&gt;</a:t>
            </a:r>
            <a:r>
              <a:rPr lang="es-MX" dirty="0"/>
              <a:t> ::= [\</a:t>
            </a:r>
            <a:r>
              <a:rPr lang="el-GR" dirty="0"/>
              <a:t>α</a:t>
            </a:r>
            <a:r>
              <a:rPr lang="es-MX" dirty="0"/>
              <a:t>]</a:t>
            </a:r>
          </a:p>
          <a:p>
            <a:r>
              <a:rPr lang="es-MX" dirty="0"/>
              <a:t>&lt;datos lectura-escritura&gt; ::= [0|1] | </a:t>
            </a:r>
            <a:r>
              <a:rPr lang="es-MX" dirty="0">
                <a:solidFill>
                  <a:srgbClr val="FF0000"/>
                </a:solidFill>
              </a:rPr>
              <a:t>&lt;parar&gt;</a:t>
            </a:r>
          </a:p>
          <a:p>
            <a:r>
              <a:rPr lang="es-MX" dirty="0">
                <a:solidFill>
                  <a:schemeClr val="accent1">
                    <a:lumMod val="75000"/>
                  </a:schemeClr>
                </a:solidFill>
              </a:rPr>
              <a:t>&lt;desplazarse&gt;</a:t>
            </a:r>
            <a:r>
              <a:rPr lang="es-MX" dirty="0"/>
              <a:t> ::= &lt;izquierda&gt; |&lt;derecha&gt; </a:t>
            </a:r>
          </a:p>
          <a:p>
            <a:r>
              <a:rPr lang="es-MX" b="1" dirty="0"/>
              <a:t>&lt;izquierda&gt; </a:t>
            </a:r>
            <a:r>
              <a:rPr lang="es-MX" dirty="0"/>
              <a:t>::= </a:t>
            </a:r>
            <a:r>
              <a:rPr lang="es-MX" b="1" dirty="0"/>
              <a:t>[</a:t>
            </a:r>
            <a:r>
              <a:rPr lang="es-MX" b="1" dirty="0">
                <a:sym typeface="Wingdings" panose="05000000000000000000" pitchFamily="2" charset="2"/>
              </a:rPr>
              <a:t> </a:t>
            </a:r>
            <a:r>
              <a:rPr lang="es-MX" b="1" dirty="0"/>
              <a:t>] </a:t>
            </a:r>
          </a:p>
          <a:p>
            <a:r>
              <a:rPr lang="es-MX" b="1" dirty="0"/>
              <a:t>&lt;derecha&gt;</a:t>
            </a:r>
            <a:r>
              <a:rPr lang="es-MX" dirty="0"/>
              <a:t> ::= </a:t>
            </a:r>
            <a:r>
              <a:rPr lang="es-MX" b="1" dirty="0"/>
              <a:t>[</a:t>
            </a:r>
            <a:r>
              <a:rPr lang="es-MX" b="1" dirty="0">
                <a:sym typeface="Wingdings" panose="05000000000000000000" pitchFamily="2" charset="2"/>
              </a:rPr>
              <a:t></a:t>
            </a:r>
            <a:r>
              <a:rPr lang="es-MX" b="1" dirty="0"/>
              <a:t>]</a:t>
            </a:r>
          </a:p>
          <a:p>
            <a:r>
              <a:rPr lang="es-MX" dirty="0">
                <a:solidFill>
                  <a:srgbClr val="FF0000"/>
                </a:solidFill>
              </a:rPr>
              <a:t>&lt;parar&gt; </a:t>
            </a:r>
            <a:r>
              <a:rPr lang="es-MX" dirty="0"/>
              <a:t>::= [ </a:t>
            </a:r>
            <a:r>
              <a:rPr lang="el-GR" dirty="0"/>
              <a:t>Δ</a:t>
            </a:r>
            <a:r>
              <a:rPr lang="es-MX" dirty="0"/>
              <a:t> ]</a:t>
            </a:r>
          </a:p>
        </p:txBody>
      </p:sp>
    </p:spTree>
    <p:extLst>
      <p:ext uri="{BB962C8B-B14F-4D97-AF65-F5344CB8AC3E}">
        <p14:creationId xmlns:p14="http://schemas.microsoft.com/office/powerpoint/2010/main" val="3936090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{9E9F864D-6F53-46E6-9F89-822401AD76D2}tf16401375</Template>
  <TotalTime>4397</TotalTime>
  <Words>593</Words>
  <Application>Microsoft Office PowerPoint</Application>
  <PresentationFormat>Panorámica</PresentationFormat>
  <Paragraphs>36</Paragraphs>
  <Slides>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Arial</vt:lpstr>
      <vt:lpstr>MS Shell Dlg 2</vt:lpstr>
      <vt:lpstr>Roboto</vt:lpstr>
      <vt:lpstr>Wingdings</vt:lpstr>
      <vt:lpstr>Wingdings 3</vt:lpstr>
      <vt:lpstr>Madison</vt:lpstr>
      <vt:lpstr> Las máquinas de Turing (MT´s) son modelos matemáticos que consideran un almacenamiento en cinta. Este BNF es sobre la primera MT que se construyó con una cinta infinita de lado izquierdo y derecho con lenguaje binario.</vt:lpstr>
      <vt:lpstr>¿QUIEN fue?</vt:lpstr>
      <vt:lpstr>¿Qué es la  primera Maquina de Turing?</vt:lpstr>
      <vt:lpstr>Presentación de PowerPoint</vt:lpstr>
      <vt:lpstr>CARACTERISTICAS</vt:lpstr>
      <vt:lpstr>La primera Maquina de Turing</vt:lpstr>
      <vt:lpstr>MT EN BNF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Describa las máquinas de Turing (MT) y sobre la primera MT desarrolle su BNF.</dc:title>
  <dc:creator>Israel Cortes Mayorga</dc:creator>
  <cp:lastModifiedBy>Sara Mendez Garcia</cp:lastModifiedBy>
  <cp:revision>17</cp:revision>
  <dcterms:created xsi:type="dcterms:W3CDTF">2020-11-30T14:58:27Z</dcterms:created>
  <dcterms:modified xsi:type="dcterms:W3CDTF">2026-06-16T04:26:18Z</dcterms:modified>
</cp:coreProperties>
</file>