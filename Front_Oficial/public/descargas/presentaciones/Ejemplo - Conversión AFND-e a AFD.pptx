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3" r:id="rId5"/>
    <p:sldId id="262" r:id="rId6"/>
    <p:sldId id="264" r:id="rId7"/>
    <p:sldId id="265" r:id="rId8"/>
    <p:sldId id="266" r:id="rId9"/>
    <p:sldId id="267" r:id="rId10"/>
    <p:sldId id="268" r:id="rId11"/>
    <p:sldId id="269" r:id="rId12"/>
    <p:sldId id="270" r:id="rId1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1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8BC0E8-90E3-4949-7962-8D12078DFC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8CED4A7-C7B0-AAEA-2F68-197D8627EE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9D9DAD-544A-7607-D57E-88EAB82D1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1FE8C-04C4-4206-81A1-52FB988E5429}" type="datetimeFigureOut">
              <a:rPr lang="es-MX" smtClean="0"/>
              <a:t>31/01/2026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E250EE5-CEBD-94EB-DE86-6A9A12861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6E30ADE-62DF-60CD-44F8-C629EFDBA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0354F-EA67-4B71-8CE3-89BCABF0BAA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62119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B9DAB6-70F3-C16C-4E59-A0D8888C9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FC6922-CFFA-66EE-F0A9-E8D2DCD6A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62CDFA-8C08-D5B5-10FF-69491B296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1FE8C-04C4-4206-81A1-52FB988E5429}" type="datetimeFigureOut">
              <a:rPr lang="es-MX" smtClean="0"/>
              <a:t>31/01/2026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A677C1-A600-C3EA-F500-FBF166614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090BB8-E333-9FAA-81C2-181535879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0354F-EA67-4B71-8CE3-89BCABF0BAA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79867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7425A4-D230-52D4-17E7-24AC1600D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74A7C9B-3224-3FF4-1982-D02D72CA56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3101187-78BE-D374-DF98-B9939C577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1FE8C-04C4-4206-81A1-52FB988E5429}" type="datetimeFigureOut">
              <a:rPr lang="es-MX" smtClean="0"/>
              <a:t>31/01/2026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7C02C5-3609-30ED-3608-BB5E1D406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FEB382-2433-58FE-C566-B2A925906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0354F-EA67-4B71-8CE3-89BCABF0BAA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32704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39E1D1-9EBF-D90A-DE6D-A0AC10CEB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1DF6A4-5FED-A1AA-8ECF-63766301B6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21C64BA-DB13-35B8-1A52-669F30733D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FDF33F0-2603-62FB-95FB-DA299AB8B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1FE8C-04C4-4206-81A1-52FB988E5429}" type="datetimeFigureOut">
              <a:rPr lang="es-MX" smtClean="0"/>
              <a:t>31/01/2026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3B0EF83-7111-E40B-09D5-E6429D03D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85BA431-9DA2-8FA5-4E05-DECECA62E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0354F-EA67-4B71-8CE3-89BCABF0BAA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05953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74F418-1E16-1D3D-66A5-512D45697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76F48EC-5CA3-716E-14FC-1B792EBD5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CC63ED0-274C-DA28-18F2-C59667387A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C734E9D-6461-6496-57C7-6D184E597C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6BA34F1-A619-6C4E-8DCB-F0FE0C01DC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009751A-3FD2-EF5B-2760-CF8499CA9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1FE8C-04C4-4206-81A1-52FB988E5429}" type="datetimeFigureOut">
              <a:rPr lang="es-MX" smtClean="0"/>
              <a:t>31/01/2026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89026A0-E7CC-8DD7-2AC4-0DAA561DC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1ADCFFA-A8E0-80D9-35DD-B074E3842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0354F-EA67-4B71-8CE3-89BCABF0BAA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66288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12C443-C1EC-6B4C-E65D-FD989BE01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54C9483-3583-DF5B-274C-E330ED3B8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1FE8C-04C4-4206-81A1-52FB988E5429}" type="datetimeFigureOut">
              <a:rPr lang="es-MX" smtClean="0"/>
              <a:t>31/01/2026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F9DC049-74F2-5A43-7D05-6EF4C8D1F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B91706A-B5D9-E18A-59E5-512F2AEA1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0354F-EA67-4B71-8CE3-89BCABF0BAA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56281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35F6B92-FBF8-1A13-A633-40E5496CB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1FE8C-04C4-4206-81A1-52FB988E5429}" type="datetimeFigureOut">
              <a:rPr lang="es-MX" smtClean="0"/>
              <a:t>31/01/2026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FF640A9-7EB3-5667-1348-BF3CB4BF3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8561539-54B4-6D07-C6A2-60A3DC14C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0354F-EA67-4B71-8CE3-89BCABF0BAA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1343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C5D674-9597-C69E-8D99-D87DAAD73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106C92-FABC-8B71-4585-596126D5E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E975D01-A2E7-4025-51A0-676FDA38D9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0BBBE74-4068-7E41-F05E-3E1DB86CD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1FE8C-04C4-4206-81A1-52FB988E5429}" type="datetimeFigureOut">
              <a:rPr lang="es-MX" smtClean="0"/>
              <a:t>31/01/2026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C89DF5-1B10-77B0-530D-A7B4D014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DBA2D00-C4B4-4429-C44F-BD25CD957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0354F-EA67-4B71-8CE3-89BCABF0BAA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24151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0D92AB-D3D0-87F3-3523-DCC473723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64220B0-2800-82BA-2437-36BBEC36E7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F3EAF9E-A379-8616-279F-D8BEDB513A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082D8D0-8A1B-2070-3E84-B6F02D2F2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1FE8C-04C4-4206-81A1-52FB988E5429}" type="datetimeFigureOut">
              <a:rPr lang="es-MX" smtClean="0"/>
              <a:t>31/01/2026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D3FD15C-EB24-706A-8668-8A6A23DA8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7FBC1AD-379E-D3C2-25DC-49E4D729E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0354F-EA67-4B71-8CE3-89BCABF0BAA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83957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DFC0AF-CFD5-5354-A6D1-48C44AEB6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AC29E30-59BF-3B3E-71D6-22DFBB4F3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AC3CB8-D33B-9516-EA9F-8C6E39BBF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1FE8C-04C4-4206-81A1-52FB988E5429}" type="datetimeFigureOut">
              <a:rPr lang="es-MX" smtClean="0"/>
              <a:t>31/01/2026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44106C-631C-F6A3-6321-E900E8453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8BA438-524B-3AB4-A8A0-EBDD820B1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0354F-EA67-4B71-8CE3-89BCABF0BAA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16943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1A186F1-2446-BD22-B396-EDB267921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564F6F6-283E-D02C-AD26-37055D50C5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1F1CDA-4746-88EF-F897-33FEA187B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1FE8C-04C4-4206-81A1-52FB988E5429}" type="datetimeFigureOut">
              <a:rPr lang="es-MX" smtClean="0"/>
              <a:t>31/01/2026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F1D324-7DDD-2C64-E73B-34D8B2E78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CBC7FB-0C3A-16B4-7A4C-0D4329B48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0354F-EA67-4B71-8CE3-89BCABF0BAA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56884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4805C0F-5D34-5AD4-17DA-1700C85A1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6C625F2-67FB-6817-E77B-A7994596B6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8DA7366-2996-1490-C231-1D6323D3BD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71FE8C-04C4-4206-81A1-52FB988E5429}" type="datetimeFigureOut">
              <a:rPr lang="es-MX" smtClean="0"/>
              <a:t>31/01/2026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44800F-C67E-32BC-F213-A61CF19FD1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F2F673-4DFD-9A17-05B8-1220A0EAB3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B0354F-EA67-4B71-8CE3-89BCABF0BAA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62004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06B6398-F168-1099-6144-945F1F1B6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03149"/>
            <a:ext cx="4368602" cy="1353033"/>
          </a:xfrm>
        </p:spPr>
        <p:txBody>
          <a:bodyPr anchor="b">
            <a:normAutofit/>
          </a:bodyPr>
          <a:lstStyle/>
          <a:p>
            <a:r>
              <a:rPr lang="es-MX" sz="4200" dirty="0"/>
              <a:t>Semana del 4 al 28 de febrero 2026.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53D672-1E25-A490-37D5-174BAC00B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366888"/>
            <a:ext cx="4531360" cy="4826680"/>
          </a:xfrm>
        </p:spPr>
        <p:txBody>
          <a:bodyPr>
            <a:normAutofit fontScale="92500" lnSpcReduction="10000"/>
          </a:bodyPr>
          <a:lstStyle/>
          <a:p>
            <a:r>
              <a:rPr lang="es-MX" sz="2200" dirty="0"/>
              <a:t>OBJETIVO: Transformación de un AFND-</a:t>
            </a:r>
            <a:r>
              <a:rPr lang="el-GR" sz="2200" dirty="0"/>
              <a:t>ε</a:t>
            </a:r>
            <a:r>
              <a:rPr lang="es-MX" sz="2200" dirty="0"/>
              <a:t> a un AFND</a:t>
            </a:r>
            <a:r>
              <a:rPr lang="es-MX" sz="2200" dirty="0">
                <a:sym typeface="Wingdings" panose="05000000000000000000" pitchFamily="2" charset="2"/>
              </a:rPr>
              <a:t> sin </a:t>
            </a:r>
            <a:r>
              <a:rPr lang="el-GR" sz="2200" dirty="0"/>
              <a:t>ε</a:t>
            </a:r>
            <a:r>
              <a:rPr lang="es-MX" sz="2200" dirty="0"/>
              <a:t>, a un</a:t>
            </a:r>
            <a:r>
              <a:rPr lang="es-MX" sz="2200" dirty="0">
                <a:sym typeface="Wingdings" panose="05000000000000000000" pitchFamily="2" charset="2"/>
              </a:rPr>
              <a:t> AFD (los tres </a:t>
            </a:r>
            <a:r>
              <a:rPr lang="es-MX" sz="2200" dirty="0" err="1">
                <a:sym typeface="Wingdings" panose="05000000000000000000" pitchFamily="2" charset="2"/>
              </a:rPr>
              <a:t>AF´s</a:t>
            </a:r>
            <a:r>
              <a:rPr lang="es-MX" sz="2200" dirty="0">
                <a:sym typeface="Wingdings" panose="05000000000000000000" pitchFamily="2" charset="2"/>
              </a:rPr>
              <a:t>  equivalentes).</a:t>
            </a:r>
          </a:p>
          <a:p>
            <a:pPr marL="0" indent="0">
              <a:buNone/>
            </a:pPr>
            <a:r>
              <a:rPr lang="es-MX" sz="2200" dirty="0">
                <a:sym typeface="Wingdings" panose="05000000000000000000" pitchFamily="2" charset="2"/>
              </a:rPr>
              <a:t>Mediante la épsilon cerradura. </a:t>
            </a:r>
          </a:p>
          <a:p>
            <a:r>
              <a:rPr lang="es-MX" sz="2200" dirty="0">
                <a:sym typeface="Wingdings" panose="05000000000000000000" pitchFamily="2" charset="2"/>
              </a:rPr>
              <a:t>Ejemplificar el paso de </a:t>
            </a:r>
            <a:r>
              <a:rPr lang="es-MX" sz="2200" dirty="0" err="1">
                <a:sym typeface="Wingdings" panose="05000000000000000000" pitchFamily="2" charset="2"/>
              </a:rPr>
              <a:t>AF´s</a:t>
            </a:r>
            <a:r>
              <a:rPr lang="es-MX" sz="2200" dirty="0">
                <a:sym typeface="Wingdings" panose="05000000000000000000" pitchFamily="2" charset="2"/>
              </a:rPr>
              <a:t> a GLC iniciando con el BNF del </a:t>
            </a:r>
            <a:r>
              <a:rPr lang="es-MX" sz="2200" dirty="0" err="1">
                <a:sym typeface="Wingdings" panose="05000000000000000000" pitchFamily="2" charset="2"/>
              </a:rPr>
              <a:t>copy</a:t>
            </a:r>
            <a:r>
              <a:rPr lang="es-MX" sz="2200" dirty="0">
                <a:sym typeface="Wingdings" panose="05000000000000000000" pitchFamily="2" charset="2"/>
              </a:rPr>
              <a:t> de</a:t>
            </a:r>
            <a:endParaRPr lang="es-MX" sz="2200" dirty="0"/>
          </a:p>
          <a:p>
            <a:pPr marL="0" indent="0">
              <a:buNone/>
            </a:pPr>
            <a:r>
              <a:rPr lang="es-MX" sz="2200" dirty="0"/>
              <a:t>MS-DOS. para completarlo como actividades de aprendizaje Fechas LIMITE:</a:t>
            </a:r>
            <a:r>
              <a:rPr lang="es-MX" sz="2200" b="1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1er.Periodo Miércoles 11 DE MARZO 2026.</a:t>
            </a:r>
          </a:p>
          <a:p>
            <a:pPr marL="0" indent="0">
              <a:buNone/>
            </a:pPr>
            <a:r>
              <a:rPr lang="es-MX" sz="2200" b="1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2do.Periodo Miércoles 6 DE MAYO 2026.</a:t>
            </a:r>
          </a:p>
          <a:p>
            <a:pPr marL="0" indent="0">
              <a:buNone/>
            </a:pPr>
            <a:r>
              <a:rPr lang="es-MX" sz="2200" b="1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3er.Periodo Miércoles 17 de JUNIO  2026</a:t>
            </a:r>
          </a:p>
          <a:p>
            <a:r>
              <a:rPr lang="es-MX" sz="2200" b="1" u="sng" dirty="0"/>
              <a:t>Méndez García Sara</a:t>
            </a:r>
            <a:r>
              <a:rPr lang="es-MX" sz="2200" dirty="0"/>
              <a:t> </a:t>
            </a:r>
          </a:p>
        </p:txBody>
      </p:sp>
      <p:pic>
        <p:nvPicPr>
          <p:cNvPr id="5" name="Imagen 4" descr="Una persona con un caballo&#10;&#10;Descripción generada automáticamente">
            <a:extLst>
              <a:ext uri="{FF2B5EF4-FFF2-40B4-BE49-F238E27FC236}">
                <a16:creationId xmlns:a16="http://schemas.microsoft.com/office/drawing/2014/main" id="{9E8A20AA-9B33-3FB2-32EC-DB308F3A61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35" r="-1" b="1039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824990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Marcador de contenido 6">
            <a:extLst>
              <a:ext uri="{FF2B5EF4-FFF2-40B4-BE49-F238E27FC236}">
                <a16:creationId xmlns:a16="http://schemas.microsoft.com/office/drawing/2014/main" id="{6A4CD810-7C61-F2B3-A788-FE97EF7816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6941363"/>
              </p:ext>
            </p:extLst>
          </p:nvPr>
        </p:nvGraphicFramePr>
        <p:xfrm>
          <a:off x="157831" y="301629"/>
          <a:ext cx="5151178" cy="44569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255">
                  <a:extLst>
                    <a:ext uri="{9D8B030D-6E8A-4147-A177-3AD203B41FA5}">
                      <a16:colId xmlns:a16="http://schemas.microsoft.com/office/drawing/2014/main" val="1056714298"/>
                    </a:ext>
                  </a:extLst>
                </a:gridCol>
                <a:gridCol w="1466272">
                  <a:extLst>
                    <a:ext uri="{9D8B030D-6E8A-4147-A177-3AD203B41FA5}">
                      <a16:colId xmlns:a16="http://schemas.microsoft.com/office/drawing/2014/main" val="4049806231"/>
                    </a:ext>
                  </a:extLst>
                </a:gridCol>
                <a:gridCol w="699251">
                  <a:extLst>
                    <a:ext uri="{9D8B030D-6E8A-4147-A177-3AD203B41FA5}">
                      <a16:colId xmlns:a16="http://schemas.microsoft.com/office/drawing/2014/main" val="138420927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02457388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86737667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1472267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MX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C-</a:t>
                      </a:r>
                      <a:r>
                        <a:rPr lang="el-GR" dirty="0"/>
                        <a:t>ε</a:t>
                      </a:r>
                      <a:r>
                        <a:rPr lang="es-MX" dirty="0"/>
                        <a:t>   o  </a:t>
                      </a:r>
                      <a:r>
                        <a:rPr lang="el-GR" dirty="0"/>
                        <a:t>ε</a:t>
                      </a:r>
                      <a:r>
                        <a:rPr lang="es-MX" dirty="0"/>
                        <a:t>-C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FINAL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8411778"/>
                  </a:ext>
                </a:extLst>
              </a:tr>
              <a:tr h="371927">
                <a:tc>
                  <a:txBody>
                    <a:bodyPr/>
                    <a:lstStyle/>
                    <a:p>
                      <a:r>
                        <a:rPr lang="es-MX" dirty="0"/>
                        <a:t>q0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{q0,</a:t>
                      </a:r>
                      <a:r>
                        <a:rPr lang="es-MX" u="sng" dirty="0"/>
                        <a:t>q1</a:t>
                      </a:r>
                      <a:r>
                        <a:rPr lang="es-MX" dirty="0"/>
                        <a:t>,q3,q8}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{q2}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{q4}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{q9}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3743779"/>
                  </a:ext>
                </a:extLst>
              </a:tr>
              <a:tr h="371927">
                <a:tc>
                  <a:txBody>
                    <a:bodyPr/>
                    <a:lstStyle/>
                    <a:p>
                      <a:r>
                        <a:rPr lang="es-MX" dirty="0"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{q1}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{q2}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0567191"/>
                  </a:ext>
                </a:extLst>
              </a:tr>
              <a:tr h="371927">
                <a:tc>
                  <a:txBody>
                    <a:bodyPr/>
                    <a:lstStyle/>
                    <a:p>
                      <a:r>
                        <a:rPr lang="es-MX" dirty="0"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{q1,q2,q3}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{q2}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{q4}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0294671"/>
                  </a:ext>
                </a:extLst>
              </a:tr>
              <a:tr h="371927">
                <a:tc>
                  <a:txBody>
                    <a:bodyPr/>
                    <a:lstStyle/>
                    <a:p>
                      <a:r>
                        <a:rPr lang="es-MX" dirty="0"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{q3}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{q4}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545205"/>
                  </a:ext>
                </a:extLst>
              </a:tr>
              <a:tr h="371927">
                <a:tc>
                  <a:txBody>
                    <a:bodyPr/>
                    <a:lstStyle/>
                    <a:p>
                      <a:r>
                        <a:rPr lang="es-MX" dirty="0"/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{q4,q5,q7}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{q6}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0839873"/>
                  </a:ext>
                </a:extLst>
              </a:tr>
              <a:tr h="371927">
                <a:tc>
                  <a:txBody>
                    <a:bodyPr/>
                    <a:lstStyle/>
                    <a:p>
                      <a:r>
                        <a:rPr lang="es-MX" dirty="0"/>
                        <a:t>q5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{q5}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{q6}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7166838"/>
                  </a:ext>
                </a:extLst>
              </a:tr>
              <a:tr h="371927">
                <a:tc>
                  <a:txBody>
                    <a:bodyPr/>
                    <a:lstStyle/>
                    <a:p>
                      <a:r>
                        <a:rPr lang="es-MX" dirty="0"/>
                        <a:t>q6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{q5,q6,q7}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{q6}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044107"/>
                  </a:ext>
                </a:extLst>
              </a:tr>
              <a:tr h="371927">
                <a:tc>
                  <a:txBody>
                    <a:bodyPr/>
                    <a:lstStyle/>
                    <a:p>
                      <a:r>
                        <a:rPr lang="es-MX" dirty="0"/>
                        <a:t>q7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{q7}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4310206"/>
                  </a:ext>
                </a:extLst>
              </a:tr>
              <a:tr h="371927">
                <a:tc>
                  <a:txBody>
                    <a:bodyPr/>
                    <a:lstStyle/>
                    <a:p>
                      <a:r>
                        <a:rPr lang="es-MX" dirty="0"/>
                        <a:t>q8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{q8}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{q9}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8193980"/>
                  </a:ext>
                </a:extLst>
              </a:tr>
              <a:tr h="371927">
                <a:tc>
                  <a:txBody>
                    <a:bodyPr/>
                    <a:lstStyle/>
                    <a:p>
                      <a:r>
                        <a:rPr lang="es-MX" dirty="0"/>
                        <a:t>q9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{q9}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{q10}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9846605"/>
                  </a:ext>
                </a:extLst>
              </a:tr>
              <a:tr h="371927">
                <a:tc>
                  <a:txBody>
                    <a:bodyPr/>
                    <a:lstStyle/>
                    <a:p>
                      <a:r>
                        <a:rPr lang="es-MX" dirty="0"/>
                        <a:t>q10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{q8,q10}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{q9}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915646"/>
                  </a:ext>
                </a:extLst>
              </a:tr>
            </a:tbl>
          </a:graphicData>
        </a:graphic>
      </p:graphicFrame>
      <p:pic>
        <p:nvPicPr>
          <p:cNvPr id="10" name="Imagen 9">
            <a:extLst>
              <a:ext uri="{FF2B5EF4-FFF2-40B4-BE49-F238E27FC236}">
                <a16:creationId xmlns:a16="http://schemas.microsoft.com/office/drawing/2014/main" id="{CCE9534B-5F03-D94E-04A6-76962EC57A8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21" b="10000"/>
          <a:stretch/>
        </p:blipFill>
        <p:spPr>
          <a:xfrm>
            <a:off x="5793540" y="2750840"/>
            <a:ext cx="5972056" cy="3745468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03636F85-0C7B-D46E-8328-A6B1773F1C4A}"/>
              </a:ext>
            </a:extLst>
          </p:cNvPr>
          <p:cNvSpPr txBox="1"/>
          <p:nvPr/>
        </p:nvSpPr>
        <p:spPr>
          <a:xfrm>
            <a:off x="5309010" y="163079"/>
            <a:ext cx="6702882" cy="2451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/>
              <a:t>/ER/ = a*</a:t>
            </a:r>
            <a:r>
              <a:rPr lang="es-MX" sz="2800" dirty="0" err="1"/>
              <a:t>bc</a:t>
            </a:r>
            <a:r>
              <a:rPr lang="es-MX" sz="2800" dirty="0"/>
              <a:t>*|(ca)</a:t>
            </a:r>
            <a:r>
              <a:rPr lang="es-MX" sz="2800" baseline="30000" dirty="0"/>
              <a:t>+    </a:t>
            </a:r>
            <a:r>
              <a:rPr lang="es-MX" sz="3200" baseline="30000" dirty="0"/>
              <a:t>a*</a:t>
            </a:r>
            <a:r>
              <a:rPr lang="es-MX" sz="2800" baseline="30000" dirty="0"/>
              <a:t> </a:t>
            </a:r>
            <a:r>
              <a:rPr lang="es-MX" sz="2400" dirty="0"/>
              <a:t>L = {</a:t>
            </a:r>
            <a:r>
              <a:rPr lang="es-MX" sz="2400" dirty="0" err="1"/>
              <a:t>ε,a,aa,aaa,aaaa</a:t>
            </a:r>
            <a:r>
              <a:rPr lang="es-MX" sz="2400" dirty="0"/>
              <a:t>,…,</a:t>
            </a:r>
            <a:r>
              <a:rPr lang="es-MX" sz="2400" baseline="30000" dirty="0"/>
              <a:t> ∞</a:t>
            </a:r>
            <a:r>
              <a:rPr lang="es-MX" sz="2400" dirty="0"/>
              <a:t> ]</a:t>
            </a:r>
            <a:endParaRPr lang="es-MX" sz="2400" baseline="30000" dirty="0"/>
          </a:p>
          <a:p>
            <a:r>
              <a:rPr lang="es-MX" sz="2800" baseline="30000" dirty="0"/>
              <a:t> L={b,ca,ab,bc,abc,aabc,aaab,abcc,caca,aaab,bccc,aabcc,aaabcc,aabccc,cacaca,…,∞}      DEFINICIÓN FORMAL</a:t>
            </a:r>
            <a:endParaRPr lang="es-MX" sz="2800" dirty="0"/>
          </a:p>
          <a:p>
            <a:r>
              <a:rPr lang="es-MX" dirty="0"/>
              <a:t>M = {Q, </a:t>
            </a:r>
            <a:r>
              <a:rPr lang="el-GR" dirty="0"/>
              <a:t>∑</a:t>
            </a:r>
            <a:r>
              <a:rPr lang="es-MX" dirty="0"/>
              <a:t>, ∂, S, F}      Q = {q0,q1,q2,q3,q4,q5,q6,q7,q8,q9,q10}                </a:t>
            </a:r>
            <a:r>
              <a:rPr lang="el-GR" dirty="0"/>
              <a:t>∑</a:t>
            </a:r>
            <a:r>
              <a:rPr lang="es-MX" dirty="0"/>
              <a:t> = {</a:t>
            </a:r>
            <a:r>
              <a:rPr lang="es-MX" dirty="0" err="1"/>
              <a:t>ε,a,b,c</a:t>
            </a:r>
            <a:r>
              <a:rPr lang="es-MX" dirty="0"/>
              <a:t>}                ∂ = Q x</a:t>
            </a:r>
            <a:r>
              <a:rPr lang="el-GR" dirty="0"/>
              <a:t> ∑</a:t>
            </a:r>
            <a:r>
              <a:rPr lang="es-MX" dirty="0"/>
              <a:t> </a:t>
            </a:r>
          </a:p>
          <a:p>
            <a:r>
              <a:rPr lang="es-MX" dirty="0"/>
              <a:t>S = {q0}                        F = {q7,q10}                     </a:t>
            </a:r>
            <a:r>
              <a:rPr lang="es-MX" sz="2400" dirty="0"/>
              <a:t>AFND-</a:t>
            </a:r>
            <a:r>
              <a:rPr lang="el-GR" sz="2400" dirty="0"/>
              <a:t>ε</a:t>
            </a:r>
            <a:endParaRPr lang="es-MX" sz="24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C2E00C3-50A9-FAB4-31D1-1ACE39D189D8}"/>
              </a:ext>
            </a:extLst>
          </p:cNvPr>
          <p:cNvSpPr txBox="1"/>
          <p:nvPr/>
        </p:nvSpPr>
        <p:spPr>
          <a:xfrm>
            <a:off x="193964" y="5056909"/>
            <a:ext cx="5791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La épsilon cerradura es aquel conjunto de estados o “trayectoria” que tienen a la cadena vacía o épsilon como transición de salida y si no tiene, entonces es el mismo estado. La cadena vacía es ausencia de símbolos o cadena de longitud cero. FORMALMENTE ÚTIL </a:t>
            </a:r>
            <a:r>
              <a:rPr lang="es-MX" dirty="0" err="1"/>
              <a:t>εx</a:t>
            </a:r>
            <a:r>
              <a:rPr lang="es-MX" dirty="0"/>
              <a:t> ε </a:t>
            </a:r>
            <a:r>
              <a:rPr lang="es-MX" dirty="0" err="1"/>
              <a:t>ε</a:t>
            </a:r>
            <a:r>
              <a:rPr lang="es-MX" dirty="0"/>
              <a:t> </a:t>
            </a:r>
            <a:r>
              <a:rPr lang="es-MX" dirty="0">
                <a:sym typeface="Wingdings" panose="05000000000000000000" pitchFamily="2" charset="2"/>
              </a:rPr>
              <a:t> x</a:t>
            </a:r>
            <a:endParaRPr lang="es-MX" b="1" dirty="0"/>
          </a:p>
          <a:p>
            <a:r>
              <a:rPr lang="es-MX" b="1" dirty="0"/>
              <a:t>| ε | = 0    |b| = 1    |ca | = 2   |</a:t>
            </a:r>
            <a:r>
              <a:rPr lang="es-MX" b="1" dirty="0" err="1"/>
              <a:t>abc</a:t>
            </a:r>
            <a:r>
              <a:rPr lang="es-MX" b="1" dirty="0"/>
              <a:t> | = 3</a:t>
            </a:r>
          </a:p>
        </p:txBody>
      </p:sp>
    </p:spTree>
    <p:extLst>
      <p:ext uri="{BB962C8B-B14F-4D97-AF65-F5344CB8AC3E}">
        <p14:creationId xmlns:p14="http://schemas.microsoft.com/office/powerpoint/2010/main" val="4168608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Marcador de contenido 6">
            <a:extLst>
              <a:ext uri="{FF2B5EF4-FFF2-40B4-BE49-F238E27FC236}">
                <a16:creationId xmlns:a16="http://schemas.microsoft.com/office/drawing/2014/main" id="{6A4CD810-7C61-F2B3-A788-FE97EF7816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9734554"/>
              </p:ext>
            </p:extLst>
          </p:nvPr>
        </p:nvGraphicFramePr>
        <p:xfrm>
          <a:off x="157831" y="301629"/>
          <a:ext cx="5151178" cy="44569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255">
                  <a:extLst>
                    <a:ext uri="{9D8B030D-6E8A-4147-A177-3AD203B41FA5}">
                      <a16:colId xmlns:a16="http://schemas.microsoft.com/office/drawing/2014/main" val="1056714298"/>
                    </a:ext>
                  </a:extLst>
                </a:gridCol>
                <a:gridCol w="1466272">
                  <a:extLst>
                    <a:ext uri="{9D8B030D-6E8A-4147-A177-3AD203B41FA5}">
                      <a16:colId xmlns:a16="http://schemas.microsoft.com/office/drawing/2014/main" val="4049806231"/>
                    </a:ext>
                  </a:extLst>
                </a:gridCol>
                <a:gridCol w="699251">
                  <a:extLst>
                    <a:ext uri="{9D8B030D-6E8A-4147-A177-3AD203B41FA5}">
                      <a16:colId xmlns:a16="http://schemas.microsoft.com/office/drawing/2014/main" val="138420927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02457388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86737667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1472267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MX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dirty="0"/>
                        <a:t>C-</a:t>
                      </a:r>
                      <a:r>
                        <a:rPr lang="el-GR" dirty="0"/>
                        <a:t>ε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FINAL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8411778"/>
                  </a:ext>
                </a:extLst>
              </a:tr>
              <a:tr h="371927">
                <a:tc>
                  <a:txBody>
                    <a:bodyPr/>
                    <a:lstStyle/>
                    <a:p>
                      <a:r>
                        <a:rPr lang="es-MX" dirty="0"/>
                        <a:t>q0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{q0,q1,q3,q8}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{q2}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{q4}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{q9}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3743779"/>
                  </a:ext>
                </a:extLst>
              </a:tr>
              <a:tr h="371927">
                <a:tc>
                  <a:txBody>
                    <a:bodyPr/>
                    <a:lstStyle/>
                    <a:p>
                      <a:r>
                        <a:rPr lang="es-MX" dirty="0"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{q1}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{q2}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0567191"/>
                  </a:ext>
                </a:extLst>
              </a:tr>
              <a:tr h="371927">
                <a:tc>
                  <a:txBody>
                    <a:bodyPr/>
                    <a:lstStyle/>
                    <a:p>
                      <a:r>
                        <a:rPr lang="es-MX" dirty="0"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{q1,q2,q3}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{q2}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{q4}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0294671"/>
                  </a:ext>
                </a:extLst>
              </a:tr>
              <a:tr h="371927">
                <a:tc>
                  <a:txBody>
                    <a:bodyPr/>
                    <a:lstStyle/>
                    <a:p>
                      <a:r>
                        <a:rPr lang="es-MX" dirty="0"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{q3}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{q4}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545205"/>
                  </a:ext>
                </a:extLst>
              </a:tr>
              <a:tr h="371927">
                <a:tc>
                  <a:txBody>
                    <a:bodyPr/>
                    <a:lstStyle/>
                    <a:p>
                      <a:r>
                        <a:rPr lang="es-MX" dirty="0"/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{q4,q5,q7}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{q6}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0839873"/>
                  </a:ext>
                </a:extLst>
              </a:tr>
              <a:tr h="371927">
                <a:tc>
                  <a:txBody>
                    <a:bodyPr/>
                    <a:lstStyle/>
                    <a:p>
                      <a:r>
                        <a:rPr lang="es-MX" dirty="0"/>
                        <a:t>q5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{q5}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{q6}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7166838"/>
                  </a:ext>
                </a:extLst>
              </a:tr>
              <a:tr h="371927">
                <a:tc>
                  <a:txBody>
                    <a:bodyPr/>
                    <a:lstStyle/>
                    <a:p>
                      <a:r>
                        <a:rPr lang="es-MX" dirty="0"/>
                        <a:t>q6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{q5,q6,q7}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{q6}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044107"/>
                  </a:ext>
                </a:extLst>
              </a:tr>
              <a:tr h="371927">
                <a:tc>
                  <a:txBody>
                    <a:bodyPr/>
                    <a:lstStyle/>
                    <a:p>
                      <a:r>
                        <a:rPr lang="es-MX" dirty="0"/>
                        <a:t>q7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{q7}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4310206"/>
                  </a:ext>
                </a:extLst>
              </a:tr>
              <a:tr h="371927">
                <a:tc>
                  <a:txBody>
                    <a:bodyPr/>
                    <a:lstStyle/>
                    <a:p>
                      <a:r>
                        <a:rPr lang="es-MX" dirty="0"/>
                        <a:t>q8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{q8}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{q9}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8193980"/>
                  </a:ext>
                </a:extLst>
              </a:tr>
              <a:tr h="371927">
                <a:tc>
                  <a:txBody>
                    <a:bodyPr/>
                    <a:lstStyle/>
                    <a:p>
                      <a:r>
                        <a:rPr lang="es-MX" dirty="0"/>
                        <a:t>q9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{q9}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{q10}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9846605"/>
                  </a:ext>
                </a:extLst>
              </a:tr>
              <a:tr h="371927">
                <a:tc>
                  <a:txBody>
                    <a:bodyPr/>
                    <a:lstStyle/>
                    <a:p>
                      <a:r>
                        <a:rPr lang="es-MX" dirty="0"/>
                        <a:t>q10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{q8,q10}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{q9}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915646"/>
                  </a:ext>
                </a:extLst>
              </a:tr>
            </a:tbl>
          </a:graphicData>
        </a:graphic>
      </p:graphicFrame>
      <p:sp>
        <p:nvSpPr>
          <p:cNvPr id="11" name="CuadroTexto 10">
            <a:extLst>
              <a:ext uri="{FF2B5EF4-FFF2-40B4-BE49-F238E27FC236}">
                <a16:creationId xmlns:a16="http://schemas.microsoft.com/office/drawing/2014/main" id="{03636F85-0C7B-D46E-8328-A6B1773F1C4A}"/>
              </a:ext>
            </a:extLst>
          </p:cNvPr>
          <p:cNvSpPr txBox="1"/>
          <p:nvPr/>
        </p:nvSpPr>
        <p:spPr>
          <a:xfrm>
            <a:off x="5547246" y="163079"/>
            <a:ext cx="6464645" cy="2451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/>
              <a:t>/ER/ = a*</a:t>
            </a:r>
            <a:r>
              <a:rPr lang="es-MX" sz="2800" dirty="0" err="1"/>
              <a:t>bc</a:t>
            </a:r>
            <a:r>
              <a:rPr lang="es-MX" sz="2800" dirty="0"/>
              <a:t>*|(ca)</a:t>
            </a:r>
            <a:r>
              <a:rPr lang="es-MX" sz="2800" baseline="30000" dirty="0"/>
              <a:t>+</a:t>
            </a:r>
          </a:p>
          <a:p>
            <a:r>
              <a:rPr lang="es-MX" sz="2800" baseline="30000" dirty="0"/>
              <a:t> L={b,ca,ab,bc,abc,aabc,aaab,abcc,caca,aaab,bccc,aabcc,aaabcc,aabccc,cacaca,…,∞}</a:t>
            </a:r>
            <a:endParaRPr lang="es-MX" sz="2800" dirty="0"/>
          </a:p>
          <a:p>
            <a:r>
              <a:rPr lang="es-MX" dirty="0"/>
              <a:t>M = {Q, </a:t>
            </a:r>
            <a:r>
              <a:rPr lang="el-GR" dirty="0"/>
              <a:t>∑</a:t>
            </a:r>
            <a:r>
              <a:rPr lang="es-MX" dirty="0"/>
              <a:t>, ∂, S, F}      Q = {q0,q1,q2,q3,q4,q5,q6,q7,q8,q9,q10]                </a:t>
            </a:r>
            <a:r>
              <a:rPr lang="el-GR" dirty="0"/>
              <a:t>∑</a:t>
            </a:r>
            <a:r>
              <a:rPr lang="es-MX" dirty="0"/>
              <a:t> = {</a:t>
            </a:r>
            <a:r>
              <a:rPr lang="es-MX" dirty="0" err="1"/>
              <a:t>a,b,c</a:t>
            </a:r>
            <a:r>
              <a:rPr lang="es-MX" dirty="0"/>
              <a:t>}                ∂ = Q x</a:t>
            </a:r>
            <a:r>
              <a:rPr lang="el-GR" dirty="0"/>
              <a:t> ∑</a:t>
            </a:r>
            <a:r>
              <a:rPr lang="es-MX" dirty="0"/>
              <a:t> </a:t>
            </a:r>
          </a:p>
          <a:p>
            <a:r>
              <a:rPr lang="es-MX" dirty="0"/>
              <a:t>S = {q0}                        F = {q7,q10}                     </a:t>
            </a:r>
            <a:r>
              <a:rPr lang="es-MX" sz="2400" dirty="0"/>
              <a:t>AFND</a:t>
            </a:r>
          </a:p>
        </p:txBody>
      </p:sp>
      <p:pic>
        <p:nvPicPr>
          <p:cNvPr id="2" name="Imagen 1" descr="Diagrama">
            <a:extLst>
              <a:ext uri="{FF2B5EF4-FFF2-40B4-BE49-F238E27FC236}">
                <a16:creationId xmlns:a16="http://schemas.microsoft.com/office/drawing/2014/main" id="{EC4A8C6D-A711-DDCA-084A-A3A83320441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8" r="46642" b="11477"/>
          <a:stretch/>
        </p:blipFill>
        <p:spPr>
          <a:xfrm>
            <a:off x="5547246" y="2759905"/>
            <a:ext cx="6227411" cy="3401743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DBA43574-B452-D54B-6AFC-5A7D199EBF68}"/>
              </a:ext>
            </a:extLst>
          </p:cNvPr>
          <p:cNvSpPr txBox="1"/>
          <p:nvPr/>
        </p:nvSpPr>
        <p:spPr>
          <a:xfrm>
            <a:off x="942109" y="5153891"/>
            <a:ext cx="37684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Autómatas equivalentes: Son dos o mas autómatas de diferente forma que aceptan las mismas cadenas y el mismo lenguaje</a:t>
            </a:r>
          </a:p>
        </p:txBody>
      </p:sp>
    </p:spTree>
    <p:extLst>
      <p:ext uri="{BB962C8B-B14F-4D97-AF65-F5344CB8AC3E}">
        <p14:creationId xmlns:p14="http://schemas.microsoft.com/office/powerpoint/2010/main" val="3393297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C9FD20-8DC0-3314-883A-C2BE9D6AD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AFND  A  </a:t>
            </a:r>
            <a:r>
              <a:rPr lang="es-MX" dirty="0">
                <a:sym typeface="Wingdings" panose="05000000000000000000" pitchFamily="2" charset="2"/>
              </a:rPr>
              <a:t></a:t>
            </a:r>
            <a:r>
              <a:rPr lang="es-MX" dirty="0"/>
              <a:t>           AFD </a:t>
            </a:r>
            <a:r>
              <a:rPr lang="es-MX" dirty="0">
                <a:sym typeface="Wingdings" panose="05000000000000000000" pitchFamily="2" charset="2"/>
              </a:rPr>
              <a:t> </a:t>
            </a:r>
            <a:endParaRPr lang="es-MX" dirty="0"/>
          </a:p>
        </p:txBody>
      </p:sp>
      <p:pic>
        <p:nvPicPr>
          <p:cNvPr id="5" name="Marcador de contenido 4" descr="Diagrama&#10;&#10;Descripción generada automáticamente">
            <a:extLst>
              <a:ext uri="{FF2B5EF4-FFF2-40B4-BE49-F238E27FC236}">
                <a16:creationId xmlns:a16="http://schemas.microsoft.com/office/drawing/2014/main" id="{846FD196-F917-8FA1-5353-4A043EA851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255" b="6802"/>
          <a:stretch/>
        </p:blipFill>
        <p:spPr>
          <a:xfrm>
            <a:off x="950809" y="3619680"/>
            <a:ext cx="5685965" cy="2663133"/>
          </a:xfrm>
        </p:spPr>
      </p:pic>
      <p:pic>
        <p:nvPicPr>
          <p:cNvPr id="7" name="Imagen 6" descr="Diagrama&#10;&#10;Descripción generada automáticamente">
            <a:extLst>
              <a:ext uri="{FF2B5EF4-FFF2-40B4-BE49-F238E27FC236}">
                <a16:creationId xmlns:a16="http://schemas.microsoft.com/office/drawing/2014/main" id="{F930C313-F49B-9A0F-33A9-284B3D3A57F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18" r="30633"/>
          <a:stretch/>
        </p:blipFill>
        <p:spPr>
          <a:xfrm>
            <a:off x="6636774" y="144818"/>
            <a:ext cx="5105860" cy="5501147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8C4FDAB9-CB21-7970-5CB7-9A308D232051}"/>
              </a:ext>
            </a:extLst>
          </p:cNvPr>
          <p:cNvSpPr txBox="1"/>
          <p:nvPr/>
        </p:nvSpPr>
        <p:spPr>
          <a:xfrm>
            <a:off x="172129" y="1167727"/>
            <a:ext cx="6464645" cy="2451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/>
              <a:t>/ER/ = a*</a:t>
            </a:r>
            <a:r>
              <a:rPr lang="es-MX" sz="2800" dirty="0" err="1"/>
              <a:t>bc</a:t>
            </a:r>
            <a:r>
              <a:rPr lang="es-MX" sz="2800" dirty="0"/>
              <a:t>*|(ca)</a:t>
            </a:r>
            <a:r>
              <a:rPr lang="es-MX" sz="2800" baseline="30000" dirty="0"/>
              <a:t>+</a:t>
            </a:r>
          </a:p>
          <a:p>
            <a:r>
              <a:rPr lang="es-MX" sz="2800" baseline="30000" dirty="0"/>
              <a:t> L={b,ca,ab,bc,abc,aabc,aaab,abcc,caca,aaab,bccc,aabcc,aaabcc,aabccc,cacaca,…,∞}</a:t>
            </a:r>
            <a:endParaRPr lang="es-MX" sz="2800" dirty="0"/>
          </a:p>
          <a:p>
            <a:r>
              <a:rPr lang="es-MX" dirty="0"/>
              <a:t>M = {Q, </a:t>
            </a:r>
            <a:r>
              <a:rPr lang="el-GR" dirty="0"/>
              <a:t>∑</a:t>
            </a:r>
            <a:r>
              <a:rPr lang="es-MX" dirty="0"/>
              <a:t>, ∂, S, F}      Q = {q0,q1,q2,q3,q4,q5,error]                </a:t>
            </a:r>
          </a:p>
          <a:p>
            <a:r>
              <a:rPr lang="el-GR" dirty="0"/>
              <a:t>∑</a:t>
            </a:r>
            <a:r>
              <a:rPr lang="es-MX" dirty="0"/>
              <a:t> = {</a:t>
            </a:r>
            <a:r>
              <a:rPr lang="es-MX" dirty="0" err="1"/>
              <a:t>a,b,c</a:t>
            </a:r>
            <a:r>
              <a:rPr lang="es-MX" dirty="0"/>
              <a:t>}                ∂ = Q x</a:t>
            </a:r>
            <a:r>
              <a:rPr lang="el-GR" dirty="0"/>
              <a:t> ∑</a:t>
            </a:r>
            <a:r>
              <a:rPr lang="es-MX" dirty="0"/>
              <a:t> </a:t>
            </a:r>
          </a:p>
          <a:p>
            <a:r>
              <a:rPr lang="es-MX" dirty="0"/>
              <a:t>S = {q0}                        F = {q2,q3,q5}                     </a:t>
            </a:r>
            <a:r>
              <a:rPr lang="es-MX" sz="2400" dirty="0"/>
              <a:t>AFND  </a:t>
            </a:r>
          </a:p>
        </p:txBody>
      </p:sp>
      <p:sp>
        <p:nvSpPr>
          <p:cNvPr id="3" name="Flecha: hacia abajo 2">
            <a:extLst>
              <a:ext uri="{FF2B5EF4-FFF2-40B4-BE49-F238E27FC236}">
                <a16:creationId xmlns:a16="http://schemas.microsoft.com/office/drawing/2014/main" id="{C52EA759-09A1-94A7-E167-2CC2299AB135}"/>
              </a:ext>
            </a:extLst>
          </p:cNvPr>
          <p:cNvSpPr/>
          <p:nvPr/>
        </p:nvSpPr>
        <p:spPr>
          <a:xfrm>
            <a:off x="4776712" y="3497632"/>
            <a:ext cx="368490" cy="38136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FC05870-D0A7-7E22-68BA-16A564B8B860}"/>
              </a:ext>
            </a:extLst>
          </p:cNvPr>
          <p:cNvSpPr txBox="1"/>
          <p:nvPr/>
        </p:nvSpPr>
        <p:spPr>
          <a:xfrm>
            <a:off x="6250675" y="5525237"/>
            <a:ext cx="54919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AUTOMATA FINITO DETERMINISTA: Es un autómata que cumple con dos requisitos: 1) NO INCLUYE A LA CADENA VACIA  2) Desde cada estado por cada uno de los símbolos del alfabeto debe tener solo una transición.</a:t>
            </a:r>
          </a:p>
        </p:txBody>
      </p:sp>
    </p:spTree>
    <p:extLst>
      <p:ext uri="{BB962C8B-B14F-4D97-AF65-F5344CB8AC3E}">
        <p14:creationId xmlns:p14="http://schemas.microsoft.com/office/powerpoint/2010/main" val="1756592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1661EE-942B-15DA-3AD8-E2EF638F2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Del autómata a la GLC en formato BNF</a:t>
            </a:r>
          </a:p>
        </p:txBody>
      </p:sp>
      <p:pic>
        <p:nvPicPr>
          <p:cNvPr id="5" name="Marcador de contenido 4" descr="Diagrama&#10;&#10;Descripción generada automáticamente">
            <a:extLst>
              <a:ext uri="{FF2B5EF4-FFF2-40B4-BE49-F238E27FC236}">
                <a16:creationId xmlns:a16="http://schemas.microsoft.com/office/drawing/2014/main" id="{D1398200-C30C-49A2-718D-8E683C9CB3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7" r="30355"/>
          <a:stretch/>
        </p:blipFill>
        <p:spPr>
          <a:xfrm>
            <a:off x="7197212" y="1430594"/>
            <a:ext cx="4156587" cy="4439264"/>
          </a:xfr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7BBC291-75B6-79E7-C9D2-16304D4F324A}"/>
              </a:ext>
            </a:extLst>
          </p:cNvPr>
          <p:cNvSpPr txBox="1"/>
          <p:nvPr/>
        </p:nvSpPr>
        <p:spPr>
          <a:xfrm>
            <a:off x="1237983" y="2279862"/>
            <a:ext cx="547671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/>
              <a:t>GLC= (V, ∑, S, P) V={</a:t>
            </a:r>
            <a:r>
              <a:rPr lang="es-MX" sz="2400" dirty="0" err="1"/>
              <a:t>A,B,C,D,E,F,error</a:t>
            </a:r>
            <a:r>
              <a:rPr lang="es-MX" sz="2400" dirty="0"/>
              <a:t>} ∑={</a:t>
            </a:r>
            <a:r>
              <a:rPr lang="es-MX" sz="2400" dirty="0" err="1"/>
              <a:t>a,b,c</a:t>
            </a:r>
            <a:r>
              <a:rPr lang="es-MX" sz="2400" dirty="0"/>
              <a:t>} S={A} P = { </a:t>
            </a:r>
          </a:p>
          <a:p>
            <a:r>
              <a:rPr lang="es-MX" sz="2400" b="1" dirty="0" err="1"/>
              <a:t>A</a:t>
            </a:r>
            <a:r>
              <a:rPr lang="es-MX" sz="2400" b="1" dirty="0" err="1">
                <a:sym typeface="Wingdings" panose="05000000000000000000" pitchFamily="2" charset="2"/>
              </a:rPr>
              <a:t>aB|bC|cE</a:t>
            </a:r>
            <a:r>
              <a:rPr lang="es-MX" sz="2400" b="1" dirty="0">
                <a:sym typeface="Wingdings" panose="05000000000000000000" pitchFamily="2" charset="2"/>
              </a:rPr>
              <a:t>    A </a:t>
            </a:r>
            <a:r>
              <a:rPr lang="es-MX" sz="2400" b="1" dirty="0" err="1">
                <a:sym typeface="Wingdings" panose="05000000000000000000" pitchFamily="2" charset="2"/>
              </a:rPr>
              <a:t>aB</a:t>
            </a:r>
            <a:r>
              <a:rPr lang="es-MX" sz="2400" b="1" dirty="0">
                <a:sym typeface="Wingdings" panose="05000000000000000000" pitchFamily="2" charset="2"/>
              </a:rPr>
              <a:t>   </a:t>
            </a:r>
            <a:r>
              <a:rPr lang="es-MX" sz="2400" b="1" dirty="0" err="1">
                <a:sym typeface="Wingdings" panose="05000000000000000000" pitchFamily="2" charset="2"/>
              </a:rPr>
              <a:t>AbC</a:t>
            </a:r>
            <a:r>
              <a:rPr lang="es-MX" sz="2400" b="1" dirty="0">
                <a:sym typeface="Wingdings" panose="05000000000000000000" pitchFamily="2" charset="2"/>
              </a:rPr>
              <a:t>   </a:t>
            </a:r>
            <a:r>
              <a:rPr lang="es-MX" sz="2400" b="1" dirty="0" err="1">
                <a:sym typeface="Wingdings" panose="05000000000000000000" pitchFamily="2" charset="2"/>
              </a:rPr>
              <a:t>AcE</a:t>
            </a:r>
            <a:endParaRPr lang="es-MX" sz="2400" b="1" dirty="0">
              <a:sym typeface="Wingdings" panose="05000000000000000000" pitchFamily="2" charset="2"/>
            </a:endParaRPr>
          </a:p>
          <a:p>
            <a:r>
              <a:rPr lang="es-MX" sz="2400" b="1" dirty="0" err="1">
                <a:sym typeface="Wingdings" panose="05000000000000000000" pitchFamily="2" charset="2"/>
              </a:rPr>
              <a:t>BaB|bC|c</a:t>
            </a:r>
            <a:r>
              <a:rPr lang="es-MX" sz="2400" b="1" dirty="0">
                <a:sym typeface="Wingdings" panose="05000000000000000000" pitchFamily="2" charset="2"/>
              </a:rPr>
              <a:t> error   C[</a:t>
            </a:r>
            <a:r>
              <a:rPr lang="es-MX" sz="2400" b="1" dirty="0" err="1">
                <a:sym typeface="Wingdings" panose="05000000000000000000" pitchFamily="2" charset="2"/>
              </a:rPr>
              <a:t>a|b</a:t>
            </a:r>
            <a:r>
              <a:rPr lang="es-MX" sz="2400" b="1" dirty="0">
                <a:sym typeface="Wingdings" panose="05000000000000000000" pitchFamily="2" charset="2"/>
              </a:rPr>
              <a:t>]</a:t>
            </a:r>
            <a:r>
              <a:rPr lang="es-MX" sz="2400" b="1" dirty="0" err="1">
                <a:sym typeface="Wingdings" panose="05000000000000000000" pitchFamily="2" charset="2"/>
              </a:rPr>
              <a:t>error|cD</a:t>
            </a:r>
            <a:endParaRPr lang="es-MX" sz="2400" b="1" dirty="0">
              <a:sym typeface="Wingdings" panose="05000000000000000000" pitchFamily="2" charset="2"/>
            </a:endParaRPr>
          </a:p>
          <a:p>
            <a:r>
              <a:rPr lang="es-MX" sz="2400" b="1" dirty="0" err="1">
                <a:sym typeface="Wingdings" panose="05000000000000000000" pitchFamily="2" charset="2"/>
              </a:rPr>
              <a:t>DcD</a:t>
            </a:r>
            <a:r>
              <a:rPr lang="es-MX" sz="2400" b="1" dirty="0">
                <a:sym typeface="Wingdings" panose="05000000000000000000" pitchFamily="2" charset="2"/>
              </a:rPr>
              <a:t>|[</a:t>
            </a:r>
            <a:r>
              <a:rPr lang="es-MX" sz="2400" b="1" dirty="0" err="1">
                <a:sym typeface="Wingdings" panose="05000000000000000000" pitchFamily="2" charset="2"/>
              </a:rPr>
              <a:t>a|b</a:t>
            </a:r>
            <a:r>
              <a:rPr lang="es-MX" sz="2400" b="1" dirty="0">
                <a:sym typeface="Wingdings" panose="05000000000000000000" pitchFamily="2" charset="2"/>
              </a:rPr>
              <a:t>]error   </a:t>
            </a:r>
            <a:r>
              <a:rPr lang="es-MX" sz="2400" b="1" dirty="0" err="1">
                <a:sym typeface="Wingdings" panose="05000000000000000000" pitchFamily="2" charset="2"/>
              </a:rPr>
              <a:t>EaF</a:t>
            </a:r>
            <a:r>
              <a:rPr lang="es-MX" sz="2400" b="1" dirty="0">
                <a:sym typeface="Wingdings" panose="05000000000000000000" pitchFamily="2" charset="2"/>
              </a:rPr>
              <a:t>|[</a:t>
            </a:r>
            <a:r>
              <a:rPr lang="es-MX" sz="2400" b="1" dirty="0" err="1">
                <a:sym typeface="Wingdings" panose="05000000000000000000" pitchFamily="2" charset="2"/>
              </a:rPr>
              <a:t>b|c</a:t>
            </a:r>
            <a:r>
              <a:rPr lang="es-MX" sz="2400" b="1" dirty="0">
                <a:sym typeface="Wingdings" panose="05000000000000000000" pitchFamily="2" charset="2"/>
              </a:rPr>
              <a:t>]error</a:t>
            </a:r>
          </a:p>
          <a:p>
            <a:r>
              <a:rPr lang="es-MX" sz="2400" b="1" dirty="0" err="1">
                <a:sym typeface="Wingdings" panose="05000000000000000000" pitchFamily="2" charset="2"/>
              </a:rPr>
              <a:t>FcE</a:t>
            </a:r>
            <a:r>
              <a:rPr lang="es-MX" sz="2400" b="1" dirty="0">
                <a:sym typeface="Wingdings" panose="05000000000000000000" pitchFamily="2" charset="2"/>
              </a:rPr>
              <a:t>|[</a:t>
            </a:r>
            <a:r>
              <a:rPr lang="es-MX" sz="2400" b="1" dirty="0" err="1">
                <a:sym typeface="Wingdings" panose="05000000000000000000" pitchFamily="2" charset="2"/>
              </a:rPr>
              <a:t>a|b</a:t>
            </a:r>
            <a:r>
              <a:rPr lang="es-MX" sz="2400" b="1" dirty="0">
                <a:sym typeface="Wingdings" panose="05000000000000000000" pitchFamily="2" charset="2"/>
              </a:rPr>
              <a:t>]error    error[</a:t>
            </a:r>
            <a:r>
              <a:rPr lang="es-MX" sz="2400" b="1" dirty="0" err="1">
                <a:sym typeface="Wingdings" panose="05000000000000000000" pitchFamily="2" charset="2"/>
              </a:rPr>
              <a:t>a|b|c</a:t>
            </a:r>
            <a:r>
              <a:rPr lang="es-MX" sz="2400" b="1" dirty="0">
                <a:sym typeface="Wingdings" panose="05000000000000000000" pitchFamily="2" charset="2"/>
              </a:rPr>
              <a:t>]error}</a:t>
            </a:r>
            <a:endParaRPr lang="es-MX" sz="2400" b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D1862D0-6E78-0DA8-7439-5DF97499733A}"/>
              </a:ext>
            </a:extLst>
          </p:cNvPr>
          <p:cNvSpPr txBox="1"/>
          <p:nvPr/>
        </p:nvSpPr>
        <p:spPr>
          <a:xfrm>
            <a:off x="259307" y="5546692"/>
            <a:ext cx="97706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LAS PRODUCCIONES “P” se pueden denominar REGLAS DE PRODUCCIÓN, REGLAS GENERATIVAS, REGLAS SIMPLEMENTE o las transiciones en los AFD  </a:t>
            </a:r>
            <a:r>
              <a:rPr lang="es-MX" dirty="0">
                <a:sym typeface="Wingdings" panose="05000000000000000000" pitchFamily="2" charset="2"/>
              </a:rPr>
              <a:t> ::=   -    :-  (PRODUCE)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20593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1661EE-942B-15DA-3AD8-E2EF638F2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Del autómata a la GLC en formato BNF (Backus-Naur </a:t>
            </a:r>
            <a:r>
              <a:rPr lang="es-MX" dirty="0" err="1"/>
              <a:t>Form</a:t>
            </a:r>
            <a:r>
              <a:rPr lang="es-MX" dirty="0"/>
              <a:t>) enfocarse solo en las P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7BBC291-75B6-79E7-C9D2-16304D4F324A}"/>
              </a:ext>
            </a:extLst>
          </p:cNvPr>
          <p:cNvSpPr txBox="1"/>
          <p:nvPr/>
        </p:nvSpPr>
        <p:spPr>
          <a:xfrm>
            <a:off x="1474839" y="2109019"/>
            <a:ext cx="399681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/>
              <a:t>GLC= (V, ∑, S, P) V={</a:t>
            </a:r>
            <a:r>
              <a:rPr lang="es-MX" sz="2400" dirty="0" err="1"/>
              <a:t>A,B,C,D,E,F,error</a:t>
            </a:r>
            <a:r>
              <a:rPr lang="es-MX" sz="2400" dirty="0"/>
              <a:t>} ∑={</a:t>
            </a:r>
            <a:r>
              <a:rPr lang="es-MX" sz="2400" dirty="0" err="1"/>
              <a:t>a,b,c</a:t>
            </a:r>
            <a:r>
              <a:rPr lang="es-MX" sz="2400" dirty="0"/>
              <a:t>} S={A} P = { </a:t>
            </a:r>
          </a:p>
          <a:p>
            <a:r>
              <a:rPr lang="es-MX" sz="2400" b="1" dirty="0" err="1"/>
              <a:t>A</a:t>
            </a:r>
            <a:r>
              <a:rPr lang="es-MX" sz="2400" b="1" dirty="0" err="1">
                <a:sym typeface="Wingdings" panose="05000000000000000000" pitchFamily="2" charset="2"/>
              </a:rPr>
              <a:t>aB|bC|cE</a:t>
            </a:r>
            <a:endParaRPr lang="es-MX" sz="2400" b="1" dirty="0">
              <a:sym typeface="Wingdings" panose="05000000000000000000" pitchFamily="2" charset="2"/>
            </a:endParaRPr>
          </a:p>
          <a:p>
            <a:r>
              <a:rPr lang="es-MX" sz="2400" b="1" dirty="0" err="1">
                <a:sym typeface="Wingdings" panose="05000000000000000000" pitchFamily="2" charset="2"/>
              </a:rPr>
              <a:t>BaB|bC|C</a:t>
            </a:r>
            <a:r>
              <a:rPr lang="es-MX" sz="2400" b="1" dirty="0">
                <a:sym typeface="Wingdings" panose="05000000000000000000" pitchFamily="2" charset="2"/>
              </a:rPr>
              <a:t> error   C[</a:t>
            </a:r>
            <a:r>
              <a:rPr lang="es-MX" sz="2400" b="1" dirty="0" err="1">
                <a:sym typeface="Wingdings" panose="05000000000000000000" pitchFamily="2" charset="2"/>
              </a:rPr>
              <a:t>a|b</a:t>
            </a:r>
            <a:r>
              <a:rPr lang="es-MX" sz="2400" b="1" dirty="0">
                <a:sym typeface="Wingdings" panose="05000000000000000000" pitchFamily="2" charset="2"/>
              </a:rPr>
              <a:t>]</a:t>
            </a:r>
            <a:r>
              <a:rPr lang="es-MX" sz="2400" b="1" dirty="0" err="1">
                <a:sym typeface="Wingdings" panose="05000000000000000000" pitchFamily="2" charset="2"/>
              </a:rPr>
              <a:t>error|cD</a:t>
            </a:r>
            <a:endParaRPr lang="es-MX" sz="2400" b="1" dirty="0">
              <a:sym typeface="Wingdings" panose="05000000000000000000" pitchFamily="2" charset="2"/>
            </a:endParaRPr>
          </a:p>
          <a:p>
            <a:r>
              <a:rPr lang="es-MX" sz="2400" b="1" dirty="0" err="1">
                <a:sym typeface="Wingdings" panose="05000000000000000000" pitchFamily="2" charset="2"/>
              </a:rPr>
              <a:t>DcD</a:t>
            </a:r>
            <a:r>
              <a:rPr lang="es-MX" sz="2400" b="1" dirty="0">
                <a:sym typeface="Wingdings" panose="05000000000000000000" pitchFamily="2" charset="2"/>
              </a:rPr>
              <a:t>|[</a:t>
            </a:r>
            <a:r>
              <a:rPr lang="es-MX" sz="2400" b="1" dirty="0" err="1">
                <a:sym typeface="Wingdings" panose="05000000000000000000" pitchFamily="2" charset="2"/>
              </a:rPr>
              <a:t>a|b</a:t>
            </a:r>
            <a:r>
              <a:rPr lang="es-MX" sz="2400" b="1" dirty="0">
                <a:sym typeface="Wingdings" panose="05000000000000000000" pitchFamily="2" charset="2"/>
              </a:rPr>
              <a:t>]error   </a:t>
            </a:r>
            <a:r>
              <a:rPr lang="es-MX" sz="2400" b="1" dirty="0" err="1">
                <a:sym typeface="Wingdings" panose="05000000000000000000" pitchFamily="2" charset="2"/>
              </a:rPr>
              <a:t>EaF</a:t>
            </a:r>
            <a:r>
              <a:rPr lang="es-MX" sz="2400" b="1" dirty="0">
                <a:sym typeface="Wingdings" panose="05000000000000000000" pitchFamily="2" charset="2"/>
              </a:rPr>
              <a:t>|[</a:t>
            </a:r>
            <a:r>
              <a:rPr lang="es-MX" sz="2400" b="1" dirty="0" err="1">
                <a:sym typeface="Wingdings" panose="05000000000000000000" pitchFamily="2" charset="2"/>
              </a:rPr>
              <a:t>b|c</a:t>
            </a:r>
            <a:r>
              <a:rPr lang="es-MX" sz="2400" b="1" dirty="0">
                <a:sym typeface="Wingdings" panose="05000000000000000000" pitchFamily="2" charset="2"/>
              </a:rPr>
              <a:t>]error</a:t>
            </a:r>
          </a:p>
          <a:p>
            <a:r>
              <a:rPr lang="es-MX" sz="2400" b="1" dirty="0" err="1">
                <a:sym typeface="Wingdings" panose="05000000000000000000" pitchFamily="2" charset="2"/>
              </a:rPr>
              <a:t>FcE</a:t>
            </a:r>
            <a:r>
              <a:rPr lang="es-MX" sz="2400" b="1" dirty="0">
                <a:sym typeface="Wingdings" panose="05000000000000000000" pitchFamily="2" charset="2"/>
              </a:rPr>
              <a:t>|[</a:t>
            </a:r>
            <a:r>
              <a:rPr lang="es-MX" sz="2400" b="1" dirty="0" err="1">
                <a:sym typeface="Wingdings" panose="05000000000000000000" pitchFamily="2" charset="2"/>
              </a:rPr>
              <a:t>a|b</a:t>
            </a:r>
            <a:r>
              <a:rPr lang="es-MX" sz="2400" b="1" dirty="0">
                <a:sym typeface="Wingdings" panose="05000000000000000000" pitchFamily="2" charset="2"/>
              </a:rPr>
              <a:t>]error    error[</a:t>
            </a:r>
            <a:r>
              <a:rPr lang="es-MX" sz="2400" b="1" dirty="0" err="1">
                <a:sym typeface="Wingdings" panose="05000000000000000000" pitchFamily="2" charset="2"/>
              </a:rPr>
              <a:t>a|b|c</a:t>
            </a:r>
            <a:r>
              <a:rPr lang="es-MX" sz="2400" b="1" dirty="0">
                <a:sym typeface="Wingdings" panose="05000000000000000000" pitchFamily="2" charset="2"/>
              </a:rPr>
              <a:t>]error</a:t>
            </a:r>
            <a:r>
              <a:rPr lang="es-MX" sz="2400" dirty="0">
                <a:sym typeface="Wingdings" panose="05000000000000000000" pitchFamily="2" charset="2"/>
              </a:rPr>
              <a:t>}</a:t>
            </a:r>
            <a:endParaRPr lang="es-MX" sz="2400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F7EA6BB-E620-A038-35CA-5C74430FB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825625"/>
            <a:ext cx="52578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s-MX" dirty="0"/>
              <a:t>A</a:t>
            </a:r>
          </a:p>
          <a:p>
            <a:pPr marL="0" indent="0" algn="ctr">
              <a:buNone/>
            </a:pPr>
            <a:r>
              <a:rPr lang="es-MX" dirty="0" err="1"/>
              <a:t>aB</a:t>
            </a:r>
            <a:r>
              <a:rPr lang="es-MX" dirty="0"/>
              <a:t>      </a:t>
            </a:r>
            <a:r>
              <a:rPr lang="es-MX" dirty="0" err="1"/>
              <a:t>bC</a:t>
            </a:r>
            <a:r>
              <a:rPr lang="es-MX" dirty="0"/>
              <a:t>       </a:t>
            </a:r>
            <a:r>
              <a:rPr lang="es-MX"/>
              <a:t>cE</a:t>
            </a:r>
            <a:endParaRPr lang="es-MX" dirty="0"/>
          </a:p>
          <a:p>
            <a:pPr marL="0" indent="0" algn="ctr">
              <a:buNone/>
            </a:pPr>
            <a:endParaRPr lang="es-MX" dirty="0"/>
          </a:p>
          <a:p>
            <a:pPr marL="0" indent="0" algn="ctr">
              <a:buNone/>
            </a:pPr>
            <a:r>
              <a:rPr lang="es-MX" dirty="0"/>
              <a:t> </a:t>
            </a:r>
            <a:r>
              <a:rPr lang="es-MX" dirty="0" err="1"/>
              <a:t>aB</a:t>
            </a:r>
            <a:r>
              <a:rPr lang="es-MX" dirty="0"/>
              <a:t>     </a:t>
            </a:r>
            <a:r>
              <a:rPr lang="es-MX" dirty="0" err="1"/>
              <a:t>bC</a:t>
            </a:r>
            <a:r>
              <a:rPr lang="es-MX" dirty="0"/>
              <a:t>    c error    </a:t>
            </a:r>
            <a:r>
              <a:rPr lang="es-MX" dirty="0" err="1"/>
              <a:t>a|b</a:t>
            </a:r>
            <a:r>
              <a:rPr lang="es-MX" dirty="0"/>
              <a:t> error  </a:t>
            </a:r>
            <a:r>
              <a:rPr lang="es-MX" dirty="0" err="1"/>
              <a:t>cD</a:t>
            </a:r>
            <a:r>
              <a:rPr lang="es-MX" dirty="0"/>
              <a:t>    </a:t>
            </a:r>
          </a:p>
          <a:p>
            <a:pPr marL="0" indent="0" algn="ctr">
              <a:buNone/>
            </a:pPr>
            <a:endParaRPr lang="es-MX" dirty="0"/>
          </a:p>
          <a:p>
            <a:pPr marL="0" indent="0" algn="ctr">
              <a:buNone/>
            </a:pPr>
            <a:endParaRPr lang="es-MX" dirty="0"/>
          </a:p>
          <a:p>
            <a:pPr marL="0" indent="0" algn="ctr">
              <a:buNone/>
            </a:pPr>
            <a:endParaRPr lang="es-MX" dirty="0"/>
          </a:p>
          <a:p>
            <a:pPr marL="0" indent="0" algn="ctr">
              <a:buNone/>
            </a:pPr>
            <a:endParaRPr lang="es-MX" dirty="0"/>
          </a:p>
          <a:p>
            <a:pPr marL="0" indent="0" algn="ctr">
              <a:buNone/>
            </a:pPr>
            <a:endParaRPr lang="es-MX" dirty="0"/>
          </a:p>
          <a:p>
            <a:pPr marL="0" indent="0" algn="ctr">
              <a:buNone/>
            </a:pPr>
            <a:endParaRPr lang="es-MX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6FD33A1E-CC36-EF89-84F6-DADBCAE1A6E5}"/>
              </a:ext>
            </a:extLst>
          </p:cNvPr>
          <p:cNvSpPr/>
          <p:nvPr/>
        </p:nvSpPr>
        <p:spPr>
          <a:xfrm>
            <a:off x="8267700" y="1651819"/>
            <a:ext cx="931718" cy="63418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A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0727F0AA-05AF-CF21-A45A-9E99A88D9709}"/>
              </a:ext>
            </a:extLst>
          </p:cNvPr>
          <p:cNvCxnSpPr/>
          <p:nvPr/>
        </p:nvCxnSpPr>
        <p:spPr>
          <a:xfrm flipH="1">
            <a:off x="7869382" y="2109019"/>
            <a:ext cx="398318" cy="2822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6E8337E-7DB6-F179-FE20-EE30F4B97E5C}"/>
              </a:ext>
            </a:extLst>
          </p:cNvPr>
          <p:cNvCxnSpPr>
            <a:stCxn id="7" idx="4"/>
          </p:cNvCxnSpPr>
          <p:nvPr/>
        </p:nvCxnSpPr>
        <p:spPr>
          <a:xfrm>
            <a:off x="8733559" y="2286000"/>
            <a:ext cx="8659" cy="1053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E969A540-46D8-7B88-2196-79BE1A27FBAF}"/>
              </a:ext>
            </a:extLst>
          </p:cNvPr>
          <p:cNvCxnSpPr/>
          <p:nvPr/>
        </p:nvCxnSpPr>
        <p:spPr>
          <a:xfrm>
            <a:off x="9199418" y="2109019"/>
            <a:ext cx="465859" cy="2822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E4C3517D-AE59-AB86-9D9A-E61DAEF71DC6}"/>
              </a:ext>
            </a:extLst>
          </p:cNvPr>
          <p:cNvCxnSpPr>
            <a:cxnSpLocks/>
          </p:cNvCxnSpPr>
          <p:nvPr/>
        </p:nvCxnSpPr>
        <p:spPr>
          <a:xfrm flipH="1">
            <a:off x="6761018" y="2673927"/>
            <a:ext cx="1108364" cy="7550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1AE47DB0-6789-C25A-A52F-C52D70967A3B}"/>
              </a:ext>
            </a:extLst>
          </p:cNvPr>
          <p:cNvCxnSpPr>
            <a:cxnSpLocks/>
          </p:cNvCxnSpPr>
          <p:nvPr/>
        </p:nvCxnSpPr>
        <p:spPr>
          <a:xfrm flipH="1">
            <a:off x="7467600" y="2701636"/>
            <a:ext cx="401782" cy="7550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B4F7FDCD-1849-A3E6-FE83-7AD8CB5ADF49}"/>
              </a:ext>
            </a:extLst>
          </p:cNvPr>
          <p:cNvCxnSpPr>
            <a:cxnSpLocks/>
          </p:cNvCxnSpPr>
          <p:nvPr/>
        </p:nvCxnSpPr>
        <p:spPr>
          <a:xfrm>
            <a:off x="7869382" y="2673927"/>
            <a:ext cx="398318" cy="7550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E317BC99-4CAE-ED40-B173-4F82C73592CB}"/>
              </a:ext>
            </a:extLst>
          </p:cNvPr>
          <p:cNvCxnSpPr/>
          <p:nvPr/>
        </p:nvCxnSpPr>
        <p:spPr>
          <a:xfrm>
            <a:off x="8742218" y="2673927"/>
            <a:ext cx="923059" cy="78278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6FF447BE-C2F8-486A-30C8-38DADF84ABD3}"/>
              </a:ext>
            </a:extLst>
          </p:cNvPr>
          <p:cNvCxnSpPr/>
          <p:nvPr/>
        </p:nvCxnSpPr>
        <p:spPr>
          <a:xfrm>
            <a:off x="8742218" y="2673927"/>
            <a:ext cx="2189018" cy="78278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F2852476-964E-1141-6BEC-4C626E0C74E0}"/>
              </a:ext>
            </a:extLst>
          </p:cNvPr>
          <p:cNvSpPr txBox="1"/>
          <p:nvPr/>
        </p:nvSpPr>
        <p:spPr>
          <a:xfrm>
            <a:off x="5471652" y="4421875"/>
            <a:ext cx="62567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LA DERIVACIÓN ES SUSTUTIR VARIABLES NO TERMINALES POR SUS RESPECTIVAS VARIABLES TERMINALES SEGÚN LAS REGLAS DE PRODUCCIÓN HASTA TENER SOLO VARIABLES TERMINALES Y EN UN ARBOL DE ANALISIS SINTÁCTICO SON LOS NODOS HOJAS.</a:t>
            </a:r>
          </a:p>
        </p:txBody>
      </p:sp>
    </p:spTree>
    <p:extLst>
      <p:ext uri="{BB962C8B-B14F-4D97-AF65-F5344CB8AC3E}">
        <p14:creationId xmlns:p14="http://schemas.microsoft.com/office/powerpoint/2010/main" val="3545979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4FFB1F-DCE8-A443-FFF8-B44C13E7F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 err="1"/>
              <a:t>Copy</a:t>
            </a:r>
            <a:r>
              <a:rPr lang="es-MX" dirty="0"/>
              <a:t> del MS-DOS en formato de BNF (es la síntesis de una GLC, se enfoca solo en </a:t>
            </a:r>
            <a:r>
              <a:rPr lang="es-MX"/>
              <a:t>las producciones)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999414F-83C6-F6B2-8F00-E703F90099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Tiene 3 formas: 1) Copiar archivos desde un origen a un destino</a:t>
            </a:r>
          </a:p>
          <a:p>
            <a:pPr marL="0" indent="0">
              <a:buNone/>
            </a:pPr>
            <a:r>
              <a:rPr lang="es-MX" dirty="0"/>
              <a:t>2) Copiar archivos desde la consola de operación (</a:t>
            </a:r>
            <a:r>
              <a:rPr lang="es-MX" dirty="0" err="1"/>
              <a:t>prompt</a:t>
            </a:r>
            <a:r>
              <a:rPr lang="es-MX" dirty="0"/>
              <a:t> o receptor de órdenes o comandos)</a:t>
            </a:r>
          </a:p>
          <a:p>
            <a:pPr marL="0" indent="0">
              <a:buNone/>
            </a:pPr>
            <a:r>
              <a:rPr lang="es-MX" dirty="0"/>
              <a:t>3) Concatenación de archivos.</a:t>
            </a:r>
          </a:p>
          <a:p>
            <a:pPr marL="0" indent="0">
              <a:buNone/>
            </a:pPr>
            <a:r>
              <a:rPr lang="es-MX" b="1" dirty="0"/>
              <a:t>&lt;COPIAR&gt; </a:t>
            </a:r>
            <a:r>
              <a:rPr lang="es-MX" b="1" dirty="0">
                <a:sym typeface="Wingdings" panose="05000000000000000000" pitchFamily="2" charset="2"/>
              </a:rPr>
              <a:t>[</a:t>
            </a:r>
            <a:r>
              <a:rPr lang="es-MX" b="1" dirty="0" err="1">
                <a:sym typeface="Wingdings" panose="05000000000000000000" pitchFamily="2" charset="2"/>
              </a:rPr>
              <a:t>copy|COPY|Copy|CoPy</a:t>
            </a:r>
            <a:r>
              <a:rPr lang="es-MX" b="1" dirty="0">
                <a:sym typeface="Wingdings" panose="05000000000000000000" pitchFamily="2" charset="2"/>
              </a:rPr>
              <a:t>]&lt;CONSOLA&gt;|&lt;ORIGEN&gt;&lt;DESTINO&gt;|&lt;CONCATENAR&gt;</a:t>
            </a:r>
          </a:p>
          <a:p>
            <a:pPr marL="0" indent="0">
              <a:buNone/>
            </a:pPr>
            <a:r>
              <a:rPr lang="es-MX" b="1" dirty="0">
                <a:sym typeface="Wingdings" panose="05000000000000000000" pitchFamily="2" charset="2"/>
              </a:rPr>
              <a:t>&lt;CONSOLA&gt; [</a:t>
            </a:r>
            <a:r>
              <a:rPr lang="es-MX" b="1" dirty="0" err="1">
                <a:sym typeface="Wingdings" panose="05000000000000000000" pitchFamily="2" charset="2"/>
              </a:rPr>
              <a:t>con|CON|Con</a:t>
            </a:r>
            <a:r>
              <a:rPr lang="es-MX" b="1" dirty="0">
                <a:sym typeface="Wingdings" panose="05000000000000000000" pitchFamily="2" charset="2"/>
              </a:rPr>
              <a:t>]</a:t>
            </a:r>
          </a:p>
          <a:p>
            <a:pPr marL="0" indent="0">
              <a:buNone/>
            </a:pPr>
            <a:r>
              <a:rPr lang="es-MX" b="1" dirty="0">
                <a:sym typeface="Wingdings" panose="05000000000000000000" pitchFamily="2" charset="2"/>
              </a:rPr>
              <a:t>ESTE ES SOLO EL INICIO, Falta completar….</a:t>
            </a:r>
            <a:endParaRPr lang="es-MX" b="1" dirty="0"/>
          </a:p>
        </p:txBody>
      </p:sp>
    </p:spTree>
    <p:extLst>
      <p:ext uri="{BB962C8B-B14F-4D97-AF65-F5344CB8AC3E}">
        <p14:creationId xmlns:p14="http://schemas.microsoft.com/office/powerpoint/2010/main" val="1947165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33DC98-BDAA-52D0-64F1-0FED4BBCA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Existen varios métodos o técnicas para minimizar autómatas y hacerlos equivalentes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404FD3-396D-39AF-05D7-45FA0887D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El método de la matriz de </a:t>
            </a:r>
            <a:r>
              <a:rPr lang="es-MX" dirty="0" err="1"/>
              <a:t>Nihill-Nerode</a:t>
            </a:r>
            <a:endParaRPr lang="es-MX" dirty="0"/>
          </a:p>
          <a:p>
            <a:r>
              <a:rPr lang="es-MX" dirty="0"/>
              <a:t>El método del análisis de finales y no finales para generar un nuevo autómata equivalente</a:t>
            </a:r>
          </a:p>
          <a:p>
            <a:r>
              <a:rPr lang="es-MX" dirty="0"/>
              <a:t>El método de la “épsilon cerradura” o cerradura de épsilon</a:t>
            </a:r>
          </a:p>
          <a:p>
            <a:r>
              <a:rPr lang="es-MX" dirty="0"/>
              <a:t>El método de la “</a:t>
            </a:r>
            <a:r>
              <a:rPr lang="es-MX" dirty="0" err="1"/>
              <a:t>Mortitabla</a:t>
            </a:r>
            <a:r>
              <a:rPr lang="es-MX" dirty="0"/>
              <a:t>” del Profesor Carlos Mortera </a:t>
            </a:r>
          </a:p>
          <a:p>
            <a:r>
              <a:rPr lang="es-MX" dirty="0"/>
              <a:t>El método que ustedes deseen emplear como un reto a sus creatividad y capacidad de análisis y síntesis.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69746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06109C-66DA-2247-E4B7-D4B36EEC8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841" y="32333"/>
            <a:ext cx="11464119" cy="1662302"/>
          </a:xfrm>
        </p:spPr>
        <p:txBody>
          <a:bodyPr>
            <a:normAutofit/>
          </a:bodyPr>
          <a:lstStyle/>
          <a:p>
            <a:r>
              <a:rPr lang="es-MX" sz="3200" b="1" dirty="0"/>
              <a:t>AFND-con épsilon </a:t>
            </a:r>
            <a:br>
              <a:rPr lang="es-MX" sz="3200" b="1" dirty="0"/>
            </a:br>
            <a:r>
              <a:rPr lang="es-MX" sz="3200" b="1" dirty="0"/>
              <a:t>PASO 1. L={</a:t>
            </a:r>
            <a:r>
              <a:rPr lang="es-MX" sz="3200" b="1" dirty="0" err="1"/>
              <a:t>a,aa,ba,bb,abb,abba,aaa,aaaa,bba</a:t>
            </a:r>
            <a:r>
              <a:rPr lang="es-MX" sz="3200" b="1" baseline="30000" dirty="0"/>
              <a:t>+</a:t>
            </a:r>
            <a:br>
              <a:rPr lang="es-MX" sz="3200" b="1" dirty="0"/>
            </a:br>
            <a:r>
              <a:rPr lang="es-MX" sz="3200" b="1" dirty="0"/>
              <a:t>PASO 2. /ER/ = [</a:t>
            </a:r>
            <a:r>
              <a:rPr lang="es-MX" sz="3200" b="1" dirty="0" err="1"/>
              <a:t>a|b</a:t>
            </a:r>
            <a:r>
              <a:rPr lang="es-MX" sz="3200" b="1" dirty="0"/>
              <a:t>]</a:t>
            </a:r>
            <a:r>
              <a:rPr lang="es-MX" sz="3200" b="1" dirty="0" err="1"/>
              <a:t>b|a</a:t>
            </a:r>
            <a:r>
              <a:rPr lang="es-MX" sz="3200" b="1" baseline="30000" dirty="0"/>
              <a:t>+</a:t>
            </a:r>
            <a:r>
              <a:rPr lang="es-MX" sz="3200" b="1" dirty="0"/>
              <a:t>]             a a*= a</a:t>
            </a:r>
            <a:r>
              <a:rPr lang="es-MX" sz="3200" b="1" baseline="30000" dirty="0"/>
              <a:t>+</a:t>
            </a:r>
            <a:r>
              <a:rPr lang="es-MX" sz="3200" b="1" dirty="0"/>
              <a:t> ={</a:t>
            </a:r>
            <a:r>
              <a:rPr lang="es-MX" sz="3200" b="1" dirty="0" err="1"/>
              <a:t>a,aa,aaa,aaaa</a:t>
            </a:r>
            <a:r>
              <a:rPr lang="es-MX" sz="3200" b="1" dirty="0"/>
              <a:t>,…, ∞ } </a:t>
            </a:r>
            <a:endParaRPr lang="es-MX" sz="3200" b="1" baseline="30000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F9133CD2-DAF1-D8E7-EA70-88535251D9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3751" t="47274" r="39878" b="15870"/>
          <a:stretch/>
        </p:blipFill>
        <p:spPr>
          <a:xfrm>
            <a:off x="1477318" y="2027427"/>
            <a:ext cx="6035040" cy="3967089"/>
          </a:xfrm>
        </p:spPr>
      </p:pic>
    </p:spTree>
    <p:extLst>
      <p:ext uri="{BB962C8B-B14F-4D97-AF65-F5344CB8AC3E}">
        <p14:creationId xmlns:p14="http://schemas.microsoft.com/office/powerpoint/2010/main" val="29859367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38BF133896B7A4FB10F682060515DEB" ma:contentTypeVersion="4" ma:contentTypeDescription="Create a new document." ma:contentTypeScope="" ma:versionID="10551c0c483b32f2f67356a4f07a0e8f">
  <xsd:schema xmlns:xsd="http://www.w3.org/2001/XMLSchema" xmlns:xs="http://www.w3.org/2001/XMLSchema" xmlns:p="http://schemas.microsoft.com/office/2006/metadata/properties" xmlns:ns2="a71e33a2-df1d-41bc-bfcb-b9ba00a0e934" targetNamespace="http://schemas.microsoft.com/office/2006/metadata/properties" ma:root="true" ma:fieldsID="1fdd3d38ce8b0ec18176a56e75cf7d1a" ns2:_="">
    <xsd:import namespace="a71e33a2-df1d-41bc-bfcb-b9ba00a0e9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1e33a2-df1d-41bc-bfcb-b9ba00a0e9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8999F59-B7CD-401C-8AC0-26B37330CA4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81262A1-1DBC-49B0-93FF-27E687D57F45}">
  <ds:schemaRefs>
    <ds:schemaRef ds:uri="http://schemas.microsoft.com/office/2006/metadata/properties"/>
    <ds:schemaRef ds:uri="http://purl.org/dc/terms/"/>
    <ds:schemaRef ds:uri="http://schemas.openxmlformats.org/package/2006/metadata/core-properties"/>
    <ds:schemaRef ds:uri="a71e33a2-df1d-41bc-bfcb-b9ba00a0e934"/>
    <ds:schemaRef ds:uri="http://www.w3.org/XML/1998/namespace"/>
    <ds:schemaRef ds:uri="http://purl.org/dc/elements/1.1/"/>
    <ds:schemaRef ds:uri="http://purl.org/dc/dcmitype/"/>
    <ds:schemaRef ds:uri="http://schemas.microsoft.com/office/2006/documentManagement/typ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B5307057-5EB3-42F6-82E0-317F2BF8CDB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71e33a2-df1d-41bc-bfcb-b9ba00a0e93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4208</TotalTime>
  <Words>1424</Words>
  <Application>Microsoft Office PowerPoint</Application>
  <PresentationFormat>Panorámica</PresentationFormat>
  <Paragraphs>207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ADLaM Display</vt:lpstr>
      <vt:lpstr>Arial</vt:lpstr>
      <vt:lpstr>Calibri</vt:lpstr>
      <vt:lpstr>Calibri Light</vt:lpstr>
      <vt:lpstr>Wingdings</vt:lpstr>
      <vt:lpstr>Tema de Office</vt:lpstr>
      <vt:lpstr>Semana del 4 al 28 de febrero 2026.</vt:lpstr>
      <vt:lpstr>Presentación de PowerPoint</vt:lpstr>
      <vt:lpstr>Presentación de PowerPoint</vt:lpstr>
      <vt:lpstr>AFND  A             AFD  </vt:lpstr>
      <vt:lpstr>Del autómata a la GLC en formato BNF</vt:lpstr>
      <vt:lpstr>Del autómata a la GLC en formato BNF (Backus-Naur Form) enfocarse solo en las P</vt:lpstr>
      <vt:lpstr>Copy del MS-DOS en formato de BNF (es la síntesis de una GLC, se enfoca solo en las producciones)</vt:lpstr>
      <vt:lpstr>Existen varios métodos o técnicas para minimizar autómatas y hacerlos equivalentes</vt:lpstr>
      <vt:lpstr>AFND-con épsilon  PASO 1. L={a,aa,ba,bb,abb,abba,aaa,aaaa,bba+ PASO 2. /ER/ = [a|b]b|a+]             a a*= a+ ={a,aa,aaa,aaaa,…, ∞ 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/ER/ = a*bc*|(ca)+</dc:title>
  <dc:creator>Sara Mendez Garcia</dc:creator>
  <cp:lastModifiedBy>Sara Mendez Garcia</cp:lastModifiedBy>
  <cp:revision>13</cp:revision>
  <dcterms:created xsi:type="dcterms:W3CDTF">2022-09-21T02:42:08Z</dcterms:created>
  <dcterms:modified xsi:type="dcterms:W3CDTF">2026-02-02T01:23:02Z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0x010100B38BF133896B7A4FB10F682060515DEB</vt:lpwstr>
  </property>
</Properties>
</file>