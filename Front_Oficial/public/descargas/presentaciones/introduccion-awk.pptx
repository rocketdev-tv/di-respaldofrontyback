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  <p:sldId id="271" r:id="rId17"/>
    <p:sldId id="274" r:id="rId18"/>
    <p:sldId id="272" r:id="rId19"/>
    <p:sldId id="275" r:id="rId20"/>
    <p:sldId id="273" r:id="rId21"/>
    <p:sldId id="277" r:id="rId22"/>
    <p:sldId id="276" r:id="rId23"/>
    <p:sldId id="279" r:id="rId24"/>
    <p:sldId id="285" r:id="rId25"/>
    <p:sldId id="286" r:id="rId26"/>
    <p:sldId id="278" r:id="rId27"/>
    <p:sldId id="280" r:id="rId28"/>
    <p:sldId id="281" r:id="rId29"/>
    <p:sldId id="282" r:id="rId30"/>
    <p:sldId id="283" r:id="rId31"/>
    <p:sldId id="284" r:id="rId32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330" y="8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59280"/>
            <a:ext cx="6400800" cy="12954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801112"/>
            <a:ext cx="9144000" cy="932688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762000"/>
          </a:xfrm>
        </p:spPr>
        <p:txBody>
          <a:bodyPr>
            <a:normAutofit/>
          </a:bodyPr>
          <a:lstStyle>
            <a:lvl1pPr marL="0" indent="0" algn="ctr">
              <a:buNone/>
              <a:defRPr sz="200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B9D6C8CA-1855-4C57-A601-692281DE995D}" type="datetimeFigureOut">
              <a:rPr lang="es-MX" smtClean="0"/>
              <a:t>31/08/2016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0D9E0-E3AA-487A-93EB-3F1A71A49C0D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438400"/>
            <a:ext cx="6400800" cy="3048001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C8CA-1855-4C57-A601-692281DE995D}" type="datetimeFigureOut">
              <a:rPr lang="es-MX" smtClean="0"/>
              <a:t>31/08/2016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0D9E0-E3AA-487A-93EB-3F1A71A49C0D}" type="slidenum">
              <a:rPr lang="es-MX" smtClean="0"/>
              <a:t>‹Nº›</a:t>
            </a:fld>
            <a:endParaRPr lang="es-MX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C8CA-1855-4C57-A601-692281DE995D}" type="datetimeFigureOut">
              <a:rPr lang="es-MX" smtClean="0"/>
              <a:t>31/08/2016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0D9E0-E3AA-487A-93EB-3F1A71A49C0D}" type="slidenum">
              <a:rPr lang="es-MX" smtClean="0"/>
              <a:t>‹Nº›</a:t>
            </a:fld>
            <a:endParaRPr lang="es-MX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410267"/>
            <a:ext cx="6248400" cy="1456373"/>
          </a:xfrm>
        </p:spPr>
        <p:txBody>
          <a:bodyPr anchor="t">
            <a:normAutofit/>
          </a:bodyPr>
          <a:lstStyle>
            <a:lvl1pPr algn="ctr">
              <a:defRPr sz="3600" b="0" i="0" cap="all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800" y="1503680"/>
            <a:ext cx="6248400" cy="1566862"/>
          </a:xfrm>
        </p:spPr>
        <p:txBody>
          <a:bodyPr anchor="b"/>
          <a:lstStyle>
            <a:lvl1pPr marL="0" indent="0" algn="ctr">
              <a:buNone/>
              <a:defRPr sz="2000" b="0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pic>
        <p:nvPicPr>
          <p:cNvPr id="8" name="Picture 7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2684462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371600" y="2438400"/>
            <a:ext cx="3124200" cy="3124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C8CA-1855-4C57-A601-692281DE995D}" type="datetimeFigureOut">
              <a:rPr lang="es-MX" smtClean="0"/>
              <a:t>31/08/2016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0D9E0-E3AA-487A-93EB-3F1A71A49C0D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>
          <a:xfrm>
            <a:off x="4648200" y="2438400"/>
            <a:ext cx="3124200" cy="3124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pic>
        <p:nvPicPr>
          <p:cNvPr id="9" name="Picture 8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flourish2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371600" y="2819400"/>
            <a:ext cx="3124200" cy="2743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8200" y="2819400"/>
            <a:ext cx="3124200" cy="2743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62201"/>
            <a:ext cx="3125788" cy="451338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359152"/>
            <a:ext cx="3127375" cy="448056"/>
          </a:xfrm>
        </p:spPr>
        <p:txBody>
          <a:bodyPr anchor="b"/>
          <a:lstStyle>
            <a:lvl1pPr marL="0" indent="0" algn="ctr">
              <a:buNone/>
              <a:defRPr sz="18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C8CA-1855-4C57-A601-692281DE995D}" type="datetimeFigureOut">
              <a:rPr lang="es-MX" smtClean="0"/>
              <a:t>31/08/2016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0D9E0-E3AA-487A-93EB-3F1A71A49C0D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C8CA-1855-4C57-A601-692281DE995D}" type="datetimeFigureOut">
              <a:rPr lang="es-MX" smtClean="0"/>
              <a:t>31/08/2016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0D9E0-E3AA-487A-93EB-3F1A71A49C0D}" type="slidenum">
              <a:rPr lang="es-MX" smtClean="0"/>
              <a:t>‹Nº›</a:t>
            </a:fld>
            <a:endParaRPr lang="es-MX"/>
          </a:p>
        </p:txBody>
      </p:sp>
      <p:pic>
        <p:nvPicPr>
          <p:cNvPr id="7" name="Picture 6" descr="flourish2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-14000"/>
          </a:blip>
          <a:stretch>
            <a:fillRect/>
          </a:stretch>
        </p:blipFill>
        <p:spPr>
          <a:xfrm>
            <a:off x="0" y="1618488"/>
            <a:ext cx="9144000" cy="9326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C8CA-1855-4C57-A601-692281DE995D}" type="datetimeFigureOut">
              <a:rPr lang="es-MX" smtClean="0"/>
              <a:t>31/08/2016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0D9E0-E3AA-487A-93EB-3F1A71A49C0D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1" y="1676400"/>
            <a:ext cx="2819399" cy="599440"/>
          </a:xfrm>
        </p:spPr>
        <p:txBody>
          <a:bodyPr anchor="b"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1" y="2275840"/>
            <a:ext cx="2819399" cy="290576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C8CA-1855-4C57-A601-692281DE995D}" type="datetimeFigureOut">
              <a:rPr lang="es-MX" smtClean="0"/>
              <a:t>31/08/2016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0D9E0-E3AA-487A-93EB-3F1A71A49C0D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71600" y="1676400"/>
            <a:ext cx="3276600" cy="3505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que 9"/>
          <p:cNvSpPr/>
          <p:nvPr/>
        </p:nvSpPr>
        <p:spPr>
          <a:xfrm>
            <a:off x="1463040" y="1847088"/>
            <a:ext cx="3090672" cy="3090672"/>
          </a:xfrm>
          <a:prstGeom prst="plaque">
            <a:avLst>
              <a:gd name="adj" fmla="val 8438"/>
            </a:avLst>
          </a:prstGeom>
          <a:noFill/>
          <a:ln w="9525">
            <a:solidFill>
              <a:schemeClr val="tx2">
                <a:alpha val="17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1676400"/>
            <a:ext cx="2819400" cy="599440"/>
          </a:xfrm>
        </p:spPr>
        <p:txBody>
          <a:bodyPr anchor="b">
            <a:noAutofit/>
          </a:bodyPr>
          <a:lstStyle>
            <a:lvl1pPr algn="ctr">
              <a:defRPr sz="1700" b="1" cap="all" spc="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0" y="1905000"/>
            <a:ext cx="2971800" cy="2971800"/>
          </a:xfrm>
          <a:prstGeom prst="plaque">
            <a:avLst>
              <a:gd name="adj" fmla="val 8341"/>
            </a:avLst>
          </a:prstGeom>
          <a:solidFill>
            <a:schemeClr val="bg1">
              <a:lumMod val="95000"/>
              <a:alpha val="35000"/>
            </a:schemeClr>
          </a:solidFill>
          <a:ln w="98425" cmpd="thinThick">
            <a:noFill/>
            <a:bevel/>
          </a:ln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2276856"/>
            <a:ext cx="2819400" cy="2875280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C8CA-1855-4C57-A601-692281DE995D}" type="datetimeFigureOut">
              <a:rPr lang="es-MX" smtClean="0"/>
              <a:t>31/08/2016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0D9E0-E3AA-487A-93EB-3F1A71A49C0D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C8CA-1855-4C57-A601-692281DE995D}" type="datetimeFigureOut">
              <a:rPr lang="es-MX" smtClean="0"/>
              <a:t>31/08/2016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0D9E0-E3AA-487A-93EB-3F1A71A49C0D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09041"/>
            <a:ext cx="1295400" cy="43180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1219199"/>
            <a:ext cx="5181600" cy="426720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6C8CA-1855-4C57-A601-692281DE995D}" type="datetimeFigureOut">
              <a:rPr lang="es-MX" smtClean="0"/>
              <a:t>31/08/2016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0D9E0-E3AA-487A-93EB-3F1A71A49C0D}" type="slidenum">
              <a:rPr lang="es-MX" smtClean="0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indow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1295400"/>
            <a:ext cx="6400800" cy="685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6400800" cy="3429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304800" y="6356350"/>
            <a:ext cx="2133600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B9D6C8CA-1855-4C57-A601-692281DE995D}" type="datetimeFigureOut">
              <a:rPr lang="es-MX" smtClean="0"/>
              <a:t>31/08/2016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2971800" y="635635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6675120" y="636422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90D0D9E0-E3AA-487A-93EB-3F1A71A49C0D}" type="slidenum">
              <a:rPr lang="es-MX" smtClean="0"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-274320" algn="l" defTabSz="914400" rtl="0" eaLnBrk="1" latinLnBrk="0" hangingPunct="1">
        <a:lnSpc>
          <a:spcPct val="150000"/>
        </a:lnSpc>
        <a:spcBef>
          <a:spcPct val="20000"/>
        </a:spcBef>
        <a:buClrTx/>
        <a:buFont typeface="Wingdings" pitchFamily="2" charset="2"/>
        <a:buChar char="v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Tx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¿Porqué aprender </a:t>
            </a:r>
            <a:r>
              <a:rPr lang="es-MX" dirty="0" err="1" smtClean="0"/>
              <a:t>awk</a:t>
            </a:r>
            <a:r>
              <a:rPr lang="es-MX" dirty="0" smtClean="0"/>
              <a:t>?</a:t>
            </a:r>
            <a:endParaRPr lang="es-MX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6798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¿Porqué aprender </a:t>
            </a:r>
            <a:r>
              <a:rPr lang="es-MX" dirty="0" err="1" smtClean="0"/>
              <a:t>awk</a:t>
            </a:r>
            <a:r>
              <a:rPr lang="es-MX" dirty="0" smtClean="0"/>
              <a:t>?</a:t>
            </a:r>
            <a:endParaRPr lang="es-MX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MX" b="1" dirty="0" smtClean="0"/>
              <a:t>Es un lenguaje intérprete completo de aplicación general.</a:t>
            </a:r>
          </a:p>
          <a:p>
            <a:r>
              <a:rPr lang="es-MX" b="1" dirty="0" smtClean="0"/>
              <a:t>Los intérpretes son herramientas didácticas 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4233713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¿Porqué aprender </a:t>
            </a:r>
            <a:r>
              <a:rPr lang="es-MX" dirty="0" err="1" smtClean="0"/>
              <a:t>awk</a:t>
            </a:r>
            <a:r>
              <a:rPr lang="es-MX" dirty="0" smtClean="0"/>
              <a:t>?</a:t>
            </a:r>
            <a:endParaRPr lang="es-MX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b="1" dirty="0" smtClean="0"/>
              <a:t>Es un OPEN SOURCE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4260705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¿Porqué aprender </a:t>
            </a:r>
            <a:r>
              <a:rPr lang="es-MX" dirty="0" err="1" smtClean="0"/>
              <a:t>awk</a:t>
            </a:r>
            <a:r>
              <a:rPr lang="es-MX" dirty="0" smtClean="0"/>
              <a:t>?</a:t>
            </a:r>
            <a:endParaRPr lang="es-MX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MX" b="1" dirty="0" smtClean="0"/>
              <a:t>Es un lenguaje en C muy parecido a C más expresiones regulares</a:t>
            </a:r>
          </a:p>
          <a:p>
            <a:r>
              <a:rPr lang="es-MX" b="1" dirty="0" smtClean="0"/>
              <a:t>C + /ER/ = </a:t>
            </a:r>
            <a:r>
              <a:rPr lang="es-MX" b="1" dirty="0" err="1" smtClean="0"/>
              <a:t>awk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1902668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¿Porqué aprender </a:t>
            </a:r>
            <a:r>
              <a:rPr lang="es-MX" dirty="0" err="1" smtClean="0"/>
              <a:t>awk</a:t>
            </a:r>
            <a:r>
              <a:rPr lang="es-MX" dirty="0" smtClean="0"/>
              <a:t>?</a:t>
            </a:r>
            <a:endParaRPr lang="es-MX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MX" b="1" dirty="0" smtClean="0"/>
              <a:t>Es un lenguaje en C muy parecido a C más expresiones regulares</a:t>
            </a:r>
          </a:p>
          <a:p>
            <a:r>
              <a:rPr lang="es-MX" b="1" dirty="0" smtClean="0"/>
              <a:t>C + /ER/ = </a:t>
            </a:r>
            <a:r>
              <a:rPr lang="es-MX" b="1" dirty="0" err="1" smtClean="0"/>
              <a:t>awk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2089982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¿Porqué aprender </a:t>
            </a:r>
            <a:r>
              <a:rPr lang="es-MX" dirty="0" err="1" smtClean="0"/>
              <a:t>awk</a:t>
            </a:r>
            <a:r>
              <a:rPr lang="es-MX" dirty="0" smtClean="0"/>
              <a:t>?</a:t>
            </a:r>
            <a:endParaRPr lang="es-MX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83568" y="3886200"/>
            <a:ext cx="7704856" cy="2567136"/>
          </a:xfrm>
        </p:spPr>
        <p:txBody>
          <a:bodyPr>
            <a:normAutofit/>
          </a:bodyPr>
          <a:lstStyle/>
          <a:p>
            <a:r>
              <a:rPr lang="es-MX" b="1" dirty="0" smtClean="0"/>
              <a:t>Si </a:t>
            </a:r>
            <a:r>
              <a:rPr lang="es-MX" b="1" dirty="0" err="1" smtClean="0"/>
              <a:t>awk</a:t>
            </a:r>
            <a:r>
              <a:rPr lang="es-MX" b="1" dirty="0" smtClean="0"/>
              <a:t> es parecido a C y C es el lenguaje por excelencia, al ser el lenguaje de nivel medio, tiene el poderío de un lenguaje ensamblador más el hecho de ser amigable con el usuario programador 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1943154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¿Porqué aprender </a:t>
            </a:r>
            <a:r>
              <a:rPr lang="es-MX" dirty="0" err="1" smtClean="0"/>
              <a:t>awk</a:t>
            </a:r>
            <a:r>
              <a:rPr lang="es-MX" dirty="0" smtClean="0"/>
              <a:t>?</a:t>
            </a:r>
            <a:endParaRPr lang="es-MX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83568" y="3886200"/>
            <a:ext cx="7704856" cy="2567136"/>
          </a:xfrm>
        </p:spPr>
        <p:txBody>
          <a:bodyPr>
            <a:normAutofit/>
          </a:bodyPr>
          <a:lstStyle/>
          <a:p>
            <a:r>
              <a:rPr lang="es-MX" b="1" dirty="0" smtClean="0"/>
              <a:t>Existen versiones gratuitas para MS-DOS, MS-WINDOWS, </a:t>
            </a:r>
          </a:p>
          <a:p>
            <a:r>
              <a:rPr lang="es-MX" b="1" dirty="0" smtClean="0"/>
              <a:t>UNIX Y LINUX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102765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45211" y="2501458"/>
            <a:ext cx="6400800" cy="685800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¿Qué son las expresiones regulares?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/>
          </a:bodyPr>
          <a:lstStyle/>
          <a:p>
            <a:pPr indent="0">
              <a:buNone/>
            </a:pPr>
            <a:endParaRPr lang="es-MX" dirty="0" smtClean="0"/>
          </a:p>
          <a:p>
            <a:pPr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9808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¿Qué son las expresiones regulares?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MX" dirty="0" smtClean="0"/>
              <a:t>Una Expresión regular es un METALENGUAJE basado en la teoría de conjuntos con cuatro operaciones: Concatenación o unión, disyunción, cerradura positiva y cerradura de </a:t>
            </a:r>
            <a:r>
              <a:rPr lang="es-MX" dirty="0" err="1" smtClean="0"/>
              <a:t>Kleene</a:t>
            </a:r>
            <a:r>
              <a:rPr lang="es-MX" dirty="0" smtClean="0"/>
              <a:t>. Con 4 operaciones se pueden especificar los componentes léxicos que forman parte de un lenguaje aceptado finito o infinito.</a:t>
            </a:r>
          </a:p>
          <a:p>
            <a:pPr algn="just"/>
            <a:r>
              <a:rPr lang="es-MX" dirty="0" smtClean="0"/>
              <a:t>Es un patrón que define los símbolos, cadenas o elementos que integrarán un lenguaje </a:t>
            </a:r>
            <a:r>
              <a:rPr lang="es-MX" dirty="0"/>
              <a:t>formal </a:t>
            </a:r>
            <a:r>
              <a:rPr lang="es-MX" dirty="0" smtClean="0"/>
              <a:t>o regular</a:t>
            </a:r>
            <a:r>
              <a:rPr lang="es-MX" dirty="0"/>
              <a:t>.</a:t>
            </a:r>
            <a:endParaRPr lang="es-MX" dirty="0" smtClean="0"/>
          </a:p>
          <a:p>
            <a:pPr algn="just"/>
            <a:r>
              <a:rPr lang="es-MX" dirty="0" smtClean="0"/>
              <a:t>Es una representación matemática del comportamiento de un sistema cuyas entradas se pueden definir con símbolos, cadenas y un lenguaje regular.   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14678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45211" y="2501458"/>
            <a:ext cx="6400800" cy="685800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¿Qué son los componentes léxicos?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/>
          </a:bodyPr>
          <a:lstStyle/>
          <a:p>
            <a:pPr indent="0">
              <a:buNone/>
            </a:pPr>
            <a:endParaRPr lang="es-MX" dirty="0" smtClean="0"/>
          </a:p>
          <a:p>
            <a:pPr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48439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03648" y="1340768"/>
            <a:ext cx="6400800" cy="685800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¿Qué son los componentes léxicos?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/>
          </a:bodyPr>
          <a:lstStyle/>
          <a:p>
            <a:pPr indent="0">
              <a:buNone/>
            </a:pPr>
            <a:endParaRPr lang="es-MX" dirty="0" smtClean="0"/>
          </a:p>
          <a:p>
            <a:pPr indent="0">
              <a:buNone/>
            </a:pPr>
            <a:endParaRPr lang="es-MX" dirty="0"/>
          </a:p>
        </p:txBody>
      </p:sp>
      <p:sp>
        <p:nvSpPr>
          <p:cNvPr id="4" name="3 CuadroTexto"/>
          <p:cNvSpPr txBox="1"/>
          <p:nvPr/>
        </p:nvSpPr>
        <p:spPr>
          <a:xfrm>
            <a:off x="1547664" y="2636912"/>
            <a:ext cx="63367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Son los elementos básicos que conforman un lenguaje formal.</a:t>
            </a:r>
          </a:p>
          <a:p>
            <a:r>
              <a:rPr lang="es-MX" dirty="0" smtClean="0"/>
              <a:t>Son todos aquellos elementos necesarios para integrar un lenguaje regular y se encuentran en la TABLA DE SIMBOLOS por ejemplo:</a:t>
            </a:r>
          </a:p>
          <a:p>
            <a:endParaRPr lang="es-MX" dirty="0" smtClean="0"/>
          </a:p>
          <a:p>
            <a:r>
              <a:rPr lang="es-MX" dirty="0" smtClean="0"/>
              <a:t>Palabras reservadas = INSTRUCCIONES</a:t>
            </a:r>
          </a:p>
          <a:p>
            <a:endParaRPr lang="es-MX" dirty="0" smtClean="0"/>
          </a:p>
          <a:p>
            <a:r>
              <a:rPr lang="es-MX" dirty="0" smtClean="0"/>
              <a:t>Parámetros para cada instrucción</a:t>
            </a:r>
          </a:p>
          <a:p>
            <a:endParaRPr lang="es-MX" dirty="0" smtClean="0"/>
          </a:p>
          <a:p>
            <a:r>
              <a:rPr lang="es-MX" dirty="0" smtClean="0"/>
              <a:t>IDENTIFICADORES para nombrar variables, nombres de funciones, rutinas, subrutinas, programas, subprogramas, etc.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00748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03648" y="1340768"/>
            <a:ext cx="6400800" cy="685800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¿Qué Es </a:t>
            </a:r>
            <a:r>
              <a:rPr lang="es-MX" dirty="0" err="1" smtClean="0"/>
              <a:t>UnA</a:t>
            </a:r>
            <a:r>
              <a:rPr lang="es-MX" dirty="0" smtClean="0"/>
              <a:t> TABLA DE SIMBOLOS?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/>
          </a:bodyPr>
          <a:lstStyle/>
          <a:p>
            <a:pPr indent="0">
              <a:buNone/>
            </a:pPr>
            <a:endParaRPr lang="es-MX" dirty="0" smtClean="0"/>
          </a:p>
          <a:p>
            <a:pPr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3009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03648" y="1340768"/>
            <a:ext cx="6400800" cy="685800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¿Qué Es </a:t>
            </a:r>
            <a:r>
              <a:rPr lang="es-MX" dirty="0" err="1" smtClean="0"/>
              <a:t>UnA</a:t>
            </a:r>
            <a:r>
              <a:rPr lang="es-MX" dirty="0" smtClean="0"/>
              <a:t> TABLA DE SIMBOLOS?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/>
          </a:bodyPr>
          <a:lstStyle/>
          <a:p>
            <a:pPr indent="0">
              <a:buNone/>
            </a:pPr>
            <a:endParaRPr lang="es-MX" dirty="0" smtClean="0"/>
          </a:p>
          <a:p>
            <a:pPr indent="0">
              <a:buNone/>
            </a:pPr>
            <a:endParaRPr lang="es-MX" dirty="0"/>
          </a:p>
        </p:txBody>
      </p:sp>
      <p:sp>
        <p:nvSpPr>
          <p:cNvPr id="4" name="3 CuadroTexto"/>
          <p:cNvSpPr txBox="1"/>
          <p:nvPr/>
        </p:nvSpPr>
        <p:spPr>
          <a:xfrm>
            <a:off x="1547664" y="2636912"/>
            <a:ext cx="63367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Es una estructura de datos que contiene todos y cada uno de los elementos  básicos o componentes léxicos que conforman un lenguaje formal. Todos estos componentes léxicos deben estar en la TABLA DE SIMBOLOS conjuntamente con los TOKENS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2639094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03648" y="1340768"/>
            <a:ext cx="6400800" cy="685800"/>
          </a:xfrm>
        </p:spPr>
        <p:txBody>
          <a:bodyPr>
            <a:normAutofit/>
          </a:bodyPr>
          <a:lstStyle/>
          <a:p>
            <a:r>
              <a:rPr lang="es-MX" dirty="0" smtClean="0"/>
              <a:t>¿Qué Son LOS </a:t>
            </a:r>
            <a:r>
              <a:rPr lang="es-MX" dirty="0" err="1" smtClean="0"/>
              <a:t>tokens</a:t>
            </a:r>
            <a:r>
              <a:rPr lang="es-MX" dirty="0" smtClean="0"/>
              <a:t>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/>
          </a:bodyPr>
          <a:lstStyle/>
          <a:p>
            <a:pPr indent="0">
              <a:buNone/>
            </a:pPr>
            <a:endParaRPr lang="es-MX" dirty="0" smtClean="0"/>
          </a:p>
          <a:p>
            <a:pPr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37687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03648" y="1340768"/>
            <a:ext cx="6400800" cy="685800"/>
          </a:xfrm>
        </p:spPr>
        <p:txBody>
          <a:bodyPr>
            <a:normAutofit/>
          </a:bodyPr>
          <a:lstStyle/>
          <a:p>
            <a:r>
              <a:rPr lang="es-MX" dirty="0" smtClean="0"/>
              <a:t>¿Qué Son LOS </a:t>
            </a:r>
            <a:r>
              <a:rPr lang="es-MX" dirty="0" err="1" smtClean="0"/>
              <a:t>tokens</a:t>
            </a:r>
            <a:r>
              <a:rPr lang="es-MX" dirty="0" smtClean="0"/>
              <a:t>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/>
          </a:bodyPr>
          <a:lstStyle/>
          <a:p>
            <a:pPr indent="0">
              <a:buNone/>
            </a:pPr>
            <a:endParaRPr lang="es-MX" dirty="0" smtClean="0"/>
          </a:p>
          <a:p>
            <a:pPr indent="0">
              <a:buNone/>
            </a:pPr>
            <a:endParaRPr lang="es-MX" dirty="0"/>
          </a:p>
        </p:txBody>
      </p:sp>
      <p:sp>
        <p:nvSpPr>
          <p:cNvPr id="4" name="3 CuadroTexto"/>
          <p:cNvSpPr txBox="1"/>
          <p:nvPr/>
        </p:nvSpPr>
        <p:spPr>
          <a:xfrm>
            <a:off x="1547664" y="2636912"/>
            <a:ext cx="63367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b="1" dirty="0" smtClean="0"/>
              <a:t>Son identificadores numéricos para cada uno de los componentes léxicos. </a:t>
            </a:r>
          </a:p>
          <a:p>
            <a:pPr algn="just"/>
            <a:endParaRPr lang="es-MX" b="1" dirty="0"/>
          </a:p>
          <a:p>
            <a:pPr algn="just"/>
            <a:r>
              <a:rPr lang="es-MX" b="1" dirty="0" smtClean="0"/>
              <a:t>Estos son la salida de un analizador léxico conjuntamente con los errores léxico que se detectan y se dan de alta en el manejador de errores.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403898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03648" y="1340768"/>
            <a:ext cx="6400800" cy="685800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¿Qué </a:t>
            </a:r>
            <a:r>
              <a:rPr lang="es-MX" dirty="0" err="1" smtClean="0"/>
              <a:t>eS</a:t>
            </a:r>
            <a:r>
              <a:rPr lang="es-MX" dirty="0" smtClean="0"/>
              <a:t> un manejador de errores?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/>
          </a:bodyPr>
          <a:lstStyle/>
          <a:p>
            <a:pPr indent="0">
              <a:buNone/>
            </a:pPr>
            <a:endParaRPr lang="es-MX" dirty="0" smtClean="0"/>
          </a:p>
          <a:p>
            <a:pPr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66402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03648" y="1340768"/>
            <a:ext cx="6400800" cy="685800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¿Qué </a:t>
            </a:r>
            <a:r>
              <a:rPr lang="es-MX" dirty="0" err="1" smtClean="0"/>
              <a:t>eS</a:t>
            </a:r>
            <a:r>
              <a:rPr lang="es-MX" dirty="0" smtClean="0"/>
              <a:t> un manejador de errores?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/>
          </a:bodyPr>
          <a:lstStyle/>
          <a:p>
            <a:pPr indent="0">
              <a:buNone/>
            </a:pPr>
            <a:endParaRPr lang="es-MX" dirty="0" smtClean="0"/>
          </a:p>
          <a:p>
            <a:pPr indent="0">
              <a:buNone/>
            </a:pPr>
            <a:endParaRPr lang="es-MX" dirty="0"/>
          </a:p>
        </p:txBody>
      </p:sp>
      <p:sp>
        <p:nvSpPr>
          <p:cNvPr id="4" name="3 CuadroTexto"/>
          <p:cNvSpPr txBox="1"/>
          <p:nvPr/>
        </p:nvSpPr>
        <p:spPr>
          <a:xfrm>
            <a:off x="1547664" y="2636912"/>
            <a:ext cx="63367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b="1" dirty="0" smtClean="0"/>
              <a:t>También es una estructura de datos que contiene los código de error con su descripción para poder  guardar e informar al </a:t>
            </a:r>
            <a:r>
              <a:rPr lang="es-MX" b="1" dirty="0"/>
              <a:t>usuario  </a:t>
            </a:r>
            <a:r>
              <a:rPr lang="es-MX" b="1" dirty="0" smtClean="0"/>
              <a:t>programador todos y cada uno de los errores en el código fuente analizado. </a:t>
            </a:r>
          </a:p>
          <a:p>
            <a:endParaRPr lang="es-MX" b="1" dirty="0"/>
          </a:p>
          <a:p>
            <a:pPr algn="just"/>
            <a:r>
              <a:rPr lang="es-MX" b="1" dirty="0" smtClean="0"/>
              <a:t>Una vez que se realiza el analizador léxico se generan TOKENS y códigos de error que también son datos numéricos que se guardan con el numero de línea donde se encuentran el código fuente.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3401519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03648" y="1340768"/>
            <a:ext cx="6400800" cy="685800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¿Qué </a:t>
            </a:r>
            <a:r>
              <a:rPr lang="es-MX" dirty="0" err="1" smtClean="0"/>
              <a:t>eS</a:t>
            </a:r>
            <a:r>
              <a:rPr lang="es-MX" dirty="0" smtClean="0"/>
              <a:t> un analizador léxico?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/>
          </a:bodyPr>
          <a:lstStyle/>
          <a:p>
            <a:pPr indent="0">
              <a:buNone/>
            </a:pPr>
            <a:endParaRPr lang="es-MX" dirty="0" smtClean="0"/>
          </a:p>
          <a:p>
            <a:pPr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53463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03648" y="1340768"/>
            <a:ext cx="6400800" cy="685800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¿Qué </a:t>
            </a:r>
            <a:r>
              <a:rPr lang="es-MX" dirty="0" err="1" smtClean="0"/>
              <a:t>eS</a:t>
            </a:r>
            <a:r>
              <a:rPr lang="es-MX" dirty="0" smtClean="0"/>
              <a:t> un analizador léxico?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/>
          </a:bodyPr>
          <a:lstStyle/>
          <a:p>
            <a:pPr indent="0">
              <a:buNone/>
            </a:pPr>
            <a:endParaRPr lang="es-MX" dirty="0" smtClean="0"/>
          </a:p>
          <a:p>
            <a:pPr indent="0">
              <a:buNone/>
            </a:pPr>
            <a:endParaRPr lang="es-MX" dirty="0"/>
          </a:p>
        </p:txBody>
      </p:sp>
      <p:sp>
        <p:nvSpPr>
          <p:cNvPr id="4" name="3 CuadroTexto"/>
          <p:cNvSpPr txBox="1"/>
          <p:nvPr/>
        </p:nvSpPr>
        <p:spPr>
          <a:xfrm>
            <a:off x="1547664" y="2636912"/>
            <a:ext cx="63367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b="1" dirty="0" smtClean="0"/>
              <a:t>Es un escrutinio </a:t>
            </a:r>
            <a:r>
              <a:rPr lang="es-MX" b="1" i="1" dirty="0" smtClean="0"/>
              <a:t>(</a:t>
            </a:r>
            <a:r>
              <a:rPr lang="es-MX" b="1" i="1" dirty="0" err="1" smtClean="0"/>
              <a:t>scanning</a:t>
            </a:r>
            <a:r>
              <a:rPr lang="es-MX" b="1" i="1" dirty="0" smtClean="0"/>
              <a:t>)</a:t>
            </a:r>
            <a:r>
              <a:rPr lang="es-MX" b="1" dirty="0" smtClean="0"/>
              <a:t> que se realiza con el código fuente o de entrada para identificar cada uno de los símbolos que se integran en cadenas y con ellas se realiza una identificación para determinar si las cadenas aceptadas son parte de los componentes léxicos definidos para el lenguaje.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2716960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03648" y="2564904"/>
            <a:ext cx="6400800" cy="1656184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¿Cuáles Son las funciones básicas de un analizador léxico?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/>
          </a:bodyPr>
          <a:lstStyle/>
          <a:p>
            <a:pPr indent="0">
              <a:buNone/>
            </a:pPr>
            <a:endParaRPr lang="es-MX" dirty="0" smtClean="0"/>
          </a:p>
          <a:p>
            <a:pPr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60813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81011" y="1933956"/>
            <a:ext cx="6400800" cy="685800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¿Cuáles Son las funciones básicas de un analizador léxico?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/>
          </a:bodyPr>
          <a:lstStyle/>
          <a:p>
            <a:pPr indent="0">
              <a:buNone/>
            </a:pPr>
            <a:endParaRPr lang="es-MX" dirty="0" smtClean="0"/>
          </a:p>
          <a:p>
            <a:pPr indent="0">
              <a:buNone/>
            </a:pPr>
            <a:endParaRPr lang="es-MX" dirty="0"/>
          </a:p>
        </p:txBody>
      </p:sp>
      <p:sp>
        <p:nvSpPr>
          <p:cNvPr id="4" name="3 CuadroTexto"/>
          <p:cNvSpPr txBox="1"/>
          <p:nvPr/>
        </p:nvSpPr>
        <p:spPr>
          <a:xfrm>
            <a:off x="1547664" y="2636912"/>
            <a:ext cx="63367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s-MX" b="1" dirty="0" smtClean="0"/>
              <a:t>Elimina comentarios</a:t>
            </a:r>
          </a:p>
          <a:p>
            <a:pPr marL="342900" indent="-342900">
              <a:buAutoNum type="arabicParenR"/>
            </a:pPr>
            <a:r>
              <a:rPr lang="es-MX" b="1" dirty="0" smtClean="0"/>
              <a:t>Elimina signos extraños</a:t>
            </a:r>
          </a:p>
          <a:p>
            <a:pPr marL="342900" indent="-342900">
              <a:buAutoNum type="arabicParenR"/>
            </a:pPr>
            <a:r>
              <a:rPr lang="es-MX" b="1" dirty="0" smtClean="0"/>
              <a:t>Identifica símbolos faltantes como “, (, {, [, etc. del código fuente.</a:t>
            </a:r>
          </a:p>
          <a:p>
            <a:pPr marL="342900" indent="-342900">
              <a:buAutoNum type="arabicParenR"/>
            </a:pPr>
            <a:r>
              <a:rPr lang="es-MX" b="1" dirty="0" smtClean="0"/>
              <a:t>Genera </a:t>
            </a:r>
            <a:r>
              <a:rPr lang="es-MX" b="1" dirty="0" err="1" smtClean="0"/>
              <a:t>tokens</a:t>
            </a:r>
            <a:r>
              <a:rPr lang="es-MX" b="1" dirty="0" smtClean="0"/>
              <a:t> por cada componente léxico</a:t>
            </a:r>
            <a:r>
              <a:rPr lang="es-MX" b="1" dirty="0" smtClean="0"/>
              <a:t>.</a:t>
            </a:r>
          </a:p>
          <a:p>
            <a:pPr marL="342900" indent="-342900">
              <a:buAutoNum type="arabicParenR"/>
            </a:pPr>
            <a:r>
              <a:rPr lang="es-MX" b="1" dirty="0" smtClean="0"/>
              <a:t>Guarda los errores encontrados en la tabla o manejador de errores para avisar en la siguiente etapa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4054304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50388" y="1844824"/>
            <a:ext cx="6400800" cy="2520280"/>
          </a:xfrm>
        </p:spPr>
        <p:txBody>
          <a:bodyPr>
            <a:normAutofit/>
          </a:bodyPr>
          <a:lstStyle/>
          <a:p>
            <a:r>
              <a:rPr lang="es-MX" dirty="0" smtClean="0"/>
              <a:t>¿cuales Son las aplicaciones de un analizador léxico?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/>
          </a:bodyPr>
          <a:lstStyle/>
          <a:p>
            <a:pPr indent="0">
              <a:buNone/>
            </a:pPr>
            <a:endParaRPr lang="es-MX" dirty="0" smtClean="0"/>
          </a:p>
          <a:p>
            <a:pPr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15889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50388" y="1844824"/>
            <a:ext cx="6400800" cy="685800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¿cuales Son las aplicaciones de un analizador léxico?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/>
          </a:bodyPr>
          <a:lstStyle/>
          <a:p>
            <a:pPr indent="0">
              <a:buNone/>
            </a:pPr>
            <a:endParaRPr lang="es-MX" dirty="0" smtClean="0"/>
          </a:p>
          <a:p>
            <a:pPr indent="0">
              <a:buNone/>
            </a:pPr>
            <a:endParaRPr lang="es-MX" dirty="0"/>
          </a:p>
        </p:txBody>
      </p:sp>
      <p:sp>
        <p:nvSpPr>
          <p:cNvPr id="4" name="3 CuadroTexto"/>
          <p:cNvSpPr txBox="1"/>
          <p:nvPr/>
        </p:nvSpPr>
        <p:spPr>
          <a:xfrm>
            <a:off x="1547664" y="2636912"/>
            <a:ext cx="63367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Un analizador léxico es como un filtro, el cual tiene múltiples aplicaciones. Todo sistema bien diseñado tiene un filtro o selección </a:t>
            </a:r>
            <a:r>
              <a:rPr lang="es-MX" b="1" dirty="0" smtClean="0"/>
              <a:t>o análisis y </a:t>
            </a:r>
            <a:r>
              <a:rPr lang="es-MX" b="1" dirty="0" smtClean="0"/>
              <a:t>los elementos que acepta o rechaza el sistema. </a:t>
            </a:r>
          </a:p>
          <a:p>
            <a:r>
              <a:rPr lang="es-MX" b="1" dirty="0" smtClean="0"/>
              <a:t>Por ejemplo </a:t>
            </a:r>
            <a:r>
              <a:rPr lang="es-MX" b="1" dirty="0" smtClean="0"/>
              <a:t>los </a:t>
            </a:r>
            <a:r>
              <a:rPr lang="es-MX" b="1" dirty="0" smtClean="0"/>
              <a:t>sistemas de </a:t>
            </a:r>
            <a:r>
              <a:rPr lang="es-MX" b="1" dirty="0" smtClean="0"/>
              <a:t>gestión, tales como:</a:t>
            </a:r>
            <a:endParaRPr lang="es-MX" b="1" dirty="0" smtClean="0"/>
          </a:p>
          <a:p>
            <a:pPr marL="342900" indent="-342900">
              <a:buAutoNum type="arabicParenR"/>
            </a:pPr>
            <a:r>
              <a:rPr lang="es-MX" b="1" dirty="0" smtClean="0"/>
              <a:t>CHEQUES</a:t>
            </a:r>
          </a:p>
          <a:p>
            <a:pPr marL="342900" indent="-342900">
              <a:buAutoNum type="arabicParenR"/>
            </a:pPr>
            <a:r>
              <a:rPr lang="es-MX" b="1" dirty="0" smtClean="0"/>
              <a:t>NOMINA</a:t>
            </a:r>
          </a:p>
          <a:p>
            <a:pPr marL="342900" indent="-342900">
              <a:buAutoNum type="arabicParenR"/>
            </a:pPr>
            <a:r>
              <a:rPr lang="es-MX" b="1" dirty="0" smtClean="0"/>
              <a:t>PRESUPUESTOS</a:t>
            </a:r>
          </a:p>
          <a:p>
            <a:pPr marL="342900" indent="-342900">
              <a:buAutoNum type="arabicParenR"/>
            </a:pPr>
            <a:r>
              <a:rPr lang="es-MX" b="1" dirty="0" smtClean="0"/>
              <a:t>FACTURACIÓN, etc.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3011022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50388" y="1844824"/>
            <a:ext cx="6400800" cy="685800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¿cuales Son las aplicaciones de un analizador léxico?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/>
          </a:bodyPr>
          <a:lstStyle/>
          <a:p>
            <a:pPr indent="0">
              <a:buNone/>
            </a:pPr>
            <a:endParaRPr lang="es-MX" dirty="0" smtClean="0"/>
          </a:p>
          <a:p>
            <a:pPr indent="0">
              <a:buNone/>
            </a:pPr>
            <a:endParaRPr lang="es-MX" dirty="0"/>
          </a:p>
        </p:txBody>
      </p:sp>
      <p:sp>
        <p:nvSpPr>
          <p:cNvPr id="4" name="3 CuadroTexto"/>
          <p:cNvSpPr txBox="1"/>
          <p:nvPr/>
        </p:nvSpPr>
        <p:spPr>
          <a:xfrm>
            <a:off x="1547664" y="2636912"/>
            <a:ext cx="63367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Otros ejemplos son </a:t>
            </a:r>
            <a:r>
              <a:rPr lang="es-MX" b="1" dirty="0" smtClean="0"/>
              <a:t>sistemas de </a:t>
            </a:r>
            <a:r>
              <a:rPr lang="es-MX" b="1" dirty="0" smtClean="0"/>
              <a:t>producción</a:t>
            </a:r>
            <a:endParaRPr lang="es-MX" b="1" dirty="0" smtClean="0"/>
          </a:p>
          <a:p>
            <a:pPr marL="342900" indent="-342900">
              <a:buAutoNum type="arabicParenR"/>
            </a:pPr>
            <a:r>
              <a:rPr lang="es-MX" b="1" dirty="0" smtClean="0"/>
              <a:t>INNOVACIÓN TECNOLÓGICA</a:t>
            </a:r>
            <a:endParaRPr lang="es-MX" b="1" dirty="0" smtClean="0"/>
          </a:p>
          <a:p>
            <a:pPr marL="342900" indent="-342900">
              <a:buAutoNum type="arabicParenR"/>
            </a:pPr>
            <a:r>
              <a:rPr lang="es-MX" b="1" dirty="0" smtClean="0"/>
              <a:t>PROCESOS DE PRODUCCIÓN </a:t>
            </a:r>
            <a:endParaRPr lang="es-MX" b="1" dirty="0" smtClean="0"/>
          </a:p>
          <a:p>
            <a:pPr marL="342900" indent="-342900">
              <a:buAutoNum type="arabicParenR"/>
            </a:pPr>
            <a:r>
              <a:rPr lang="es-MX" b="1" dirty="0" smtClean="0"/>
              <a:t>CONTROL DE CALIDAD</a:t>
            </a:r>
            <a:endParaRPr lang="es-MX" b="1" dirty="0" smtClean="0"/>
          </a:p>
          <a:p>
            <a:pPr marL="342900" indent="-342900">
              <a:buAutoNum type="arabicParenR"/>
            </a:pPr>
            <a:r>
              <a:rPr lang="es-MX" b="1" dirty="0" smtClean="0"/>
              <a:t>CONTROL NUMÉRICO</a:t>
            </a:r>
            <a:r>
              <a:rPr lang="es-MX" b="1" dirty="0" smtClean="0"/>
              <a:t>, </a:t>
            </a:r>
            <a:r>
              <a:rPr lang="es-MX" b="1" dirty="0" smtClean="0"/>
              <a:t>etc.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90341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50388" y="1844824"/>
            <a:ext cx="6400800" cy="685800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¿cuales Son las aplicaciones de un analizador léxico?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/>
          </a:bodyPr>
          <a:lstStyle/>
          <a:p>
            <a:pPr indent="0">
              <a:buNone/>
            </a:pPr>
            <a:endParaRPr lang="es-MX" dirty="0" smtClean="0"/>
          </a:p>
          <a:p>
            <a:pPr indent="0">
              <a:buNone/>
            </a:pPr>
            <a:endParaRPr lang="es-MX" dirty="0"/>
          </a:p>
        </p:txBody>
      </p:sp>
      <p:sp>
        <p:nvSpPr>
          <p:cNvPr id="4" name="3 CuadroTexto"/>
          <p:cNvSpPr txBox="1"/>
          <p:nvPr/>
        </p:nvSpPr>
        <p:spPr>
          <a:xfrm>
            <a:off x="1547664" y="2636912"/>
            <a:ext cx="63367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Sistemas FORMALES como:</a:t>
            </a:r>
            <a:endParaRPr lang="es-MX" b="1" dirty="0" smtClean="0"/>
          </a:p>
          <a:p>
            <a:pPr marL="342900" indent="-342900">
              <a:buAutoNum type="arabicParenR"/>
            </a:pPr>
            <a:r>
              <a:rPr lang="es-MX" b="1" dirty="0" smtClean="0"/>
              <a:t>NUEVOS LENGUAJES</a:t>
            </a:r>
            <a:endParaRPr lang="es-MX" b="1" dirty="0" smtClean="0"/>
          </a:p>
          <a:p>
            <a:pPr marL="342900" indent="-342900">
              <a:buAutoNum type="arabicParenR"/>
            </a:pPr>
            <a:r>
              <a:rPr lang="es-MX" b="1" dirty="0" smtClean="0"/>
              <a:t>INTELIGENCIA ARTIFICIAL </a:t>
            </a:r>
            <a:endParaRPr lang="es-MX" b="1" dirty="0" smtClean="0"/>
          </a:p>
          <a:p>
            <a:pPr marL="342900" indent="-342900">
              <a:buAutoNum type="arabicParenR"/>
            </a:pPr>
            <a:r>
              <a:rPr lang="es-MX" b="1" smtClean="0"/>
              <a:t>SISTEMAS EXPERTOS, </a:t>
            </a:r>
            <a:r>
              <a:rPr lang="es-MX" b="1" dirty="0" smtClean="0"/>
              <a:t>etc.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318693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50388" y="1844824"/>
            <a:ext cx="6400800" cy="2880320"/>
          </a:xfrm>
        </p:spPr>
        <p:txBody>
          <a:bodyPr>
            <a:normAutofit/>
          </a:bodyPr>
          <a:lstStyle/>
          <a:p>
            <a:r>
              <a:rPr lang="es-MX" dirty="0" smtClean="0"/>
              <a:t>¿cuales Son las aplicaciones de un analizador léxico?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/>
          </a:bodyPr>
          <a:lstStyle/>
          <a:p>
            <a:pPr indent="0">
              <a:buNone/>
            </a:pPr>
            <a:endParaRPr lang="es-MX" dirty="0" smtClean="0"/>
          </a:p>
          <a:p>
            <a:pPr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9701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50388" y="1844824"/>
            <a:ext cx="6400800" cy="685800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¿cuales Son las aplicaciones de un analizador léxico?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/>
          </a:bodyPr>
          <a:lstStyle/>
          <a:p>
            <a:pPr indent="0">
              <a:buNone/>
            </a:pPr>
            <a:endParaRPr lang="es-MX" dirty="0" smtClean="0"/>
          </a:p>
          <a:p>
            <a:pPr indent="0">
              <a:buNone/>
            </a:pPr>
            <a:endParaRPr lang="es-MX" dirty="0"/>
          </a:p>
        </p:txBody>
      </p:sp>
      <p:sp>
        <p:nvSpPr>
          <p:cNvPr id="4" name="3 CuadroTexto"/>
          <p:cNvSpPr txBox="1"/>
          <p:nvPr/>
        </p:nvSpPr>
        <p:spPr>
          <a:xfrm>
            <a:off x="1547664" y="2636912"/>
            <a:ext cx="633670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Es la primer fase de la primera etapa de un traductor, los cuales tienen infinidad de usos, como:</a:t>
            </a:r>
          </a:p>
          <a:p>
            <a:r>
              <a:rPr lang="es-MX" b="1" dirty="0" smtClean="0"/>
              <a:t>Pre-compiladores, compiladores, </a:t>
            </a:r>
            <a:r>
              <a:rPr lang="es-MX" b="1" dirty="0" err="1" smtClean="0"/>
              <a:t>pseudo</a:t>
            </a:r>
            <a:r>
              <a:rPr lang="es-MX" b="1" dirty="0" smtClean="0"/>
              <a:t>-compiladores, intérpretes y son parte de los sistemas operativos que se consideran software de base o básico.</a:t>
            </a:r>
          </a:p>
          <a:p>
            <a:endParaRPr lang="es-MX" b="1" dirty="0" smtClean="0"/>
          </a:p>
          <a:p>
            <a:r>
              <a:rPr lang="es-MX" b="1" dirty="0" smtClean="0"/>
              <a:t>LOS ERRORES LÉXICOS SE CONSIDERAN  HASTA LA  SIGUIENTE ETAPA (ANÁLISIS SINTÁCTICO) POR LO QUE EL MENSAJE MÁS COMÚN ES:</a:t>
            </a:r>
          </a:p>
          <a:p>
            <a:pPr algn="ctr"/>
            <a:r>
              <a:rPr lang="es-MX" sz="2800" b="1" dirty="0" err="1" smtClean="0"/>
              <a:t>Sintax</a:t>
            </a:r>
            <a:r>
              <a:rPr lang="es-MX" sz="2800" b="1" dirty="0" smtClean="0"/>
              <a:t> error</a:t>
            </a:r>
            <a:endParaRPr lang="es-MX" sz="2800" b="1" dirty="0"/>
          </a:p>
        </p:txBody>
      </p:sp>
    </p:spTree>
    <p:extLst>
      <p:ext uri="{BB962C8B-B14F-4D97-AF65-F5344CB8AC3E}">
        <p14:creationId xmlns:p14="http://schemas.microsoft.com/office/powerpoint/2010/main" val="381432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50388" y="1844824"/>
            <a:ext cx="6400800" cy="685800"/>
          </a:xfrm>
        </p:spPr>
        <p:txBody>
          <a:bodyPr>
            <a:normAutofit fontScale="90000"/>
          </a:bodyPr>
          <a:lstStyle/>
          <a:p>
            <a:r>
              <a:rPr lang="es-MX" dirty="0"/>
              <a:t>Edite el archivo: </a:t>
            </a:r>
            <a:r>
              <a:rPr lang="es-MX" b="1" dirty="0" smtClean="0"/>
              <a:t>sourceAWK.txt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/>
          </a:bodyPr>
          <a:lstStyle/>
          <a:p>
            <a:pPr indent="0">
              <a:buNone/>
            </a:pPr>
            <a:endParaRPr lang="es-MX" dirty="0" smtClean="0"/>
          </a:p>
          <a:p>
            <a:pPr indent="0">
              <a:buNone/>
            </a:pPr>
            <a:r>
              <a:rPr lang="es-MX" sz="2400" b="1" dirty="0"/>
              <a:t># </a:t>
            </a:r>
            <a:r>
              <a:rPr lang="es-MX" sz="2400" b="1" dirty="0" err="1"/>
              <a:t>unbundle</a:t>
            </a:r>
            <a:r>
              <a:rPr lang="es-MX" sz="2400" b="1" dirty="0"/>
              <a:t> - </a:t>
            </a:r>
            <a:r>
              <a:rPr lang="es-MX" sz="2400" b="1" dirty="0" err="1"/>
              <a:t>unpack</a:t>
            </a:r>
            <a:r>
              <a:rPr lang="es-MX" sz="2400" b="1" dirty="0"/>
              <a:t> a </a:t>
            </a:r>
            <a:r>
              <a:rPr lang="es-MX" sz="2400" b="1" dirty="0" err="1"/>
              <a:t>bundle</a:t>
            </a:r>
            <a:r>
              <a:rPr lang="es-MX" sz="2400" b="1" dirty="0"/>
              <a:t> </a:t>
            </a:r>
            <a:r>
              <a:rPr lang="es-MX" sz="2400" b="1" dirty="0" err="1"/>
              <a:t>into</a:t>
            </a:r>
            <a:r>
              <a:rPr lang="es-MX" sz="2400" b="1" dirty="0"/>
              <a:t> </a:t>
            </a:r>
            <a:r>
              <a:rPr lang="es-MX" sz="2400" b="1" dirty="0" err="1"/>
              <a:t>separate</a:t>
            </a:r>
            <a:r>
              <a:rPr lang="es-MX" sz="2400" b="1" dirty="0"/>
              <a:t> files</a:t>
            </a:r>
          </a:p>
          <a:p>
            <a:pPr indent="0">
              <a:buNone/>
            </a:pPr>
            <a:r>
              <a:rPr lang="es-MX" sz="2400" b="1" dirty="0" smtClean="0"/>
              <a:t>$</a:t>
            </a:r>
            <a:r>
              <a:rPr lang="es-MX" sz="2400" b="1" dirty="0"/>
              <a:t>1 != </a:t>
            </a:r>
            <a:r>
              <a:rPr lang="es-MX" sz="2400" b="1" dirty="0" err="1"/>
              <a:t>prev</a:t>
            </a:r>
            <a:r>
              <a:rPr lang="es-MX" sz="2400" b="1" dirty="0"/>
              <a:t> { </a:t>
            </a:r>
            <a:r>
              <a:rPr lang="es-MX" sz="2400" b="1" dirty="0" err="1"/>
              <a:t>close</a:t>
            </a:r>
            <a:r>
              <a:rPr lang="es-MX" sz="2400" b="1" dirty="0"/>
              <a:t>(</a:t>
            </a:r>
            <a:r>
              <a:rPr lang="es-MX" sz="2400" b="1" dirty="0" err="1"/>
              <a:t>prev</a:t>
            </a:r>
            <a:r>
              <a:rPr lang="es-MX" sz="2400" b="1" dirty="0"/>
              <a:t>); </a:t>
            </a:r>
            <a:r>
              <a:rPr lang="es-MX" sz="2400" b="1" dirty="0" err="1"/>
              <a:t>prev</a:t>
            </a:r>
            <a:r>
              <a:rPr lang="es-MX" sz="2400" b="1" dirty="0"/>
              <a:t> = $1 }</a:t>
            </a:r>
          </a:p>
          <a:p>
            <a:pPr indent="0">
              <a:buNone/>
            </a:pPr>
            <a:r>
              <a:rPr lang="es-MX" sz="2400" b="1" dirty="0"/>
              <a:t>           { </a:t>
            </a:r>
            <a:r>
              <a:rPr lang="es-MX" sz="2400" b="1" dirty="0" err="1"/>
              <a:t>print</a:t>
            </a:r>
            <a:r>
              <a:rPr lang="es-MX" sz="2400" b="1" dirty="0"/>
              <a:t> </a:t>
            </a:r>
            <a:r>
              <a:rPr lang="es-MX" sz="2400" b="1" dirty="0" err="1"/>
              <a:t>substr</a:t>
            </a:r>
            <a:r>
              <a:rPr lang="es-MX" sz="2400" b="1" dirty="0"/>
              <a:t>($0, </a:t>
            </a:r>
            <a:r>
              <a:rPr lang="es-MX" sz="2400" b="1" dirty="0" err="1"/>
              <a:t>index</a:t>
            </a:r>
            <a:r>
              <a:rPr lang="es-MX" sz="2400" b="1" dirty="0"/>
              <a:t>($0, " ") + 1) &gt;$1 }</a:t>
            </a:r>
          </a:p>
          <a:p>
            <a:pPr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3819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50388" y="1844824"/>
            <a:ext cx="6400800" cy="685800"/>
          </a:xfrm>
        </p:spPr>
        <p:txBody>
          <a:bodyPr>
            <a:normAutofit fontScale="90000"/>
          </a:bodyPr>
          <a:lstStyle/>
          <a:p>
            <a:r>
              <a:rPr lang="es-MX" dirty="0"/>
              <a:t>Edite el archivo: </a:t>
            </a:r>
            <a:r>
              <a:rPr lang="es-MX" b="1" dirty="0" smtClean="0"/>
              <a:t>sourceAWK.txt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 fontScale="25000" lnSpcReduction="20000"/>
          </a:bodyPr>
          <a:lstStyle/>
          <a:p>
            <a:pPr indent="0">
              <a:buNone/>
            </a:pPr>
            <a:r>
              <a:rPr lang="es-MX" sz="4800" dirty="0"/>
              <a:t>calc1 # calc1 - reverse-</a:t>
            </a:r>
            <a:r>
              <a:rPr lang="es-MX" sz="4800" dirty="0" err="1"/>
              <a:t>Polish</a:t>
            </a:r>
            <a:r>
              <a:rPr lang="es-MX" sz="4800" dirty="0"/>
              <a:t> </a:t>
            </a:r>
            <a:r>
              <a:rPr lang="es-MX" sz="4800" dirty="0" err="1"/>
              <a:t>calculator</a:t>
            </a:r>
            <a:r>
              <a:rPr lang="es-MX" sz="4800" dirty="0"/>
              <a:t>, </a:t>
            </a:r>
            <a:r>
              <a:rPr lang="es-MX" sz="4800" dirty="0" err="1"/>
              <a:t>version</a:t>
            </a:r>
            <a:r>
              <a:rPr lang="es-MX" sz="4800" dirty="0"/>
              <a:t> 1</a:t>
            </a:r>
          </a:p>
          <a:p>
            <a:pPr indent="0">
              <a:buNone/>
            </a:pPr>
            <a:r>
              <a:rPr lang="es-MX" sz="4800" dirty="0"/>
              <a:t>calc1 #   input:  </a:t>
            </a:r>
            <a:r>
              <a:rPr lang="es-MX" sz="4800" dirty="0" err="1"/>
              <a:t>arithmetic</a:t>
            </a:r>
            <a:r>
              <a:rPr lang="es-MX" sz="4800" dirty="0"/>
              <a:t> </a:t>
            </a:r>
            <a:r>
              <a:rPr lang="es-MX" sz="4800" dirty="0" err="1"/>
              <a:t>expressions</a:t>
            </a:r>
            <a:r>
              <a:rPr lang="es-MX" sz="4800" dirty="0"/>
              <a:t> in reverse </a:t>
            </a:r>
            <a:r>
              <a:rPr lang="es-MX" sz="4800" dirty="0" err="1"/>
              <a:t>Polish</a:t>
            </a:r>
            <a:endParaRPr lang="es-MX" sz="4800" dirty="0"/>
          </a:p>
          <a:p>
            <a:pPr indent="0">
              <a:buNone/>
            </a:pPr>
            <a:r>
              <a:rPr lang="es-MX" sz="4800" dirty="0"/>
              <a:t>calc1 #   output: </a:t>
            </a:r>
            <a:r>
              <a:rPr lang="es-MX" sz="4800" dirty="0" err="1"/>
              <a:t>values</a:t>
            </a:r>
            <a:r>
              <a:rPr lang="es-MX" sz="4800" dirty="0"/>
              <a:t> of </a:t>
            </a:r>
            <a:r>
              <a:rPr lang="es-MX" sz="4800" dirty="0" err="1"/>
              <a:t>expressions</a:t>
            </a:r>
            <a:endParaRPr lang="es-MX" sz="4800" dirty="0"/>
          </a:p>
          <a:p>
            <a:pPr indent="0">
              <a:buNone/>
            </a:pPr>
            <a:r>
              <a:rPr lang="es-MX" sz="4800" dirty="0"/>
              <a:t>calc1 </a:t>
            </a:r>
          </a:p>
          <a:p>
            <a:pPr indent="0">
              <a:buNone/>
            </a:pPr>
            <a:r>
              <a:rPr lang="es-MX" sz="4800" dirty="0"/>
              <a:t>calc1 {   </a:t>
            </a:r>
            <a:r>
              <a:rPr lang="es-MX" sz="4800" dirty="0" err="1"/>
              <a:t>for</a:t>
            </a:r>
            <a:r>
              <a:rPr lang="es-MX" sz="4800" dirty="0"/>
              <a:t> (i = 1; i &lt;= NF; i++)</a:t>
            </a:r>
          </a:p>
          <a:p>
            <a:pPr indent="0">
              <a:buNone/>
            </a:pPr>
            <a:r>
              <a:rPr lang="es-MX" sz="4800" dirty="0"/>
              <a:t>calc1         </a:t>
            </a:r>
            <a:r>
              <a:rPr lang="es-MX" sz="4800" dirty="0" err="1"/>
              <a:t>if</a:t>
            </a:r>
            <a:r>
              <a:rPr lang="es-MX" sz="4800" dirty="0"/>
              <a:t> ($i ~ /^[+-]?([0-9]+[.]?[0-9]*|[.][0-9]+)$/) {</a:t>
            </a:r>
          </a:p>
          <a:p>
            <a:pPr indent="0">
              <a:buNone/>
            </a:pPr>
            <a:r>
              <a:rPr lang="es-MX" sz="4800" dirty="0"/>
              <a:t>calc1             </a:t>
            </a:r>
            <a:r>
              <a:rPr lang="es-MX" sz="4800" dirty="0" err="1"/>
              <a:t>stack</a:t>
            </a:r>
            <a:r>
              <a:rPr lang="es-MX" sz="4800" dirty="0"/>
              <a:t>[++top] = $i</a:t>
            </a:r>
          </a:p>
          <a:p>
            <a:pPr indent="0">
              <a:buNone/>
            </a:pPr>
            <a:r>
              <a:rPr lang="es-MX" sz="4800" dirty="0"/>
              <a:t>calc1         } </a:t>
            </a:r>
            <a:r>
              <a:rPr lang="es-MX" sz="4800" dirty="0" err="1"/>
              <a:t>else</a:t>
            </a:r>
            <a:r>
              <a:rPr lang="es-MX" sz="4800" dirty="0"/>
              <a:t> </a:t>
            </a:r>
            <a:r>
              <a:rPr lang="es-MX" sz="4800" dirty="0" err="1"/>
              <a:t>if</a:t>
            </a:r>
            <a:r>
              <a:rPr lang="es-MX" sz="4800" dirty="0"/>
              <a:t> ($i == "+" &amp;&amp; top &gt; 1) {</a:t>
            </a:r>
          </a:p>
          <a:p>
            <a:pPr indent="0">
              <a:buNone/>
            </a:pPr>
            <a:r>
              <a:rPr lang="es-MX" sz="4800" dirty="0"/>
              <a:t>calc1             </a:t>
            </a:r>
            <a:r>
              <a:rPr lang="es-MX" sz="4800" dirty="0" err="1"/>
              <a:t>stack</a:t>
            </a:r>
            <a:r>
              <a:rPr lang="es-MX" sz="4800" dirty="0"/>
              <a:t>[top-1] += </a:t>
            </a:r>
            <a:r>
              <a:rPr lang="es-MX" sz="4800" dirty="0" err="1"/>
              <a:t>stack</a:t>
            </a:r>
            <a:r>
              <a:rPr lang="es-MX" sz="4800" dirty="0"/>
              <a:t>[top]; top-</a:t>
            </a:r>
            <a:r>
              <a:rPr lang="es-MX" sz="4800" dirty="0" smtClean="0"/>
              <a:t>-</a:t>
            </a:r>
            <a:endParaRPr lang="es-MX" sz="4800" dirty="0"/>
          </a:p>
        </p:txBody>
      </p:sp>
    </p:spTree>
    <p:extLst>
      <p:ext uri="{BB962C8B-B14F-4D97-AF65-F5344CB8AC3E}">
        <p14:creationId xmlns:p14="http://schemas.microsoft.com/office/powerpoint/2010/main" val="266165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50388" y="1844824"/>
            <a:ext cx="6400800" cy="685800"/>
          </a:xfrm>
        </p:spPr>
        <p:txBody>
          <a:bodyPr>
            <a:normAutofit fontScale="90000"/>
          </a:bodyPr>
          <a:lstStyle/>
          <a:p>
            <a:r>
              <a:rPr lang="es-MX" dirty="0"/>
              <a:t>Edite el archivo: </a:t>
            </a:r>
            <a:r>
              <a:rPr lang="es-MX" b="1" dirty="0" smtClean="0"/>
              <a:t>sourceAWK.txt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 fontScale="25000" lnSpcReduction="20000"/>
          </a:bodyPr>
          <a:lstStyle/>
          <a:p>
            <a:pPr indent="0">
              <a:buNone/>
            </a:pPr>
            <a:endParaRPr lang="es-MX" sz="4800" dirty="0" smtClean="0"/>
          </a:p>
          <a:p>
            <a:pPr indent="0">
              <a:buNone/>
            </a:pPr>
            <a:r>
              <a:rPr lang="es-MX" sz="4800" dirty="0" smtClean="0"/>
              <a:t>calc1         </a:t>
            </a:r>
            <a:r>
              <a:rPr lang="es-MX" sz="4800" dirty="0"/>
              <a:t>} </a:t>
            </a:r>
            <a:r>
              <a:rPr lang="es-MX" sz="4800" dirty="0" err="1"/>
              <a:t>else</a:t>
            </a:r>
            <a:r>
              <a:rPr lang="es-MX" sz="4800" dirty="0"/>
              <a:t> </a:t>
            </a:r>
            <a:r>
              <a:rPr lang="es-MX" sz="4800" dirty="0" err="1"/>
              <a:t>if</a:t>
            </a:r>
            <a:r>
              <a:rPr lang="es-MX" sz="4800" dirty="0"/>
              <a:t> ($i == "-" &amp;&amp; top &gt; 1) {</a:t>
            </a:r>
          </a:p>
          <a:p>
            <a:pPr indent="0">
              <a:buNone/>
            </a:pPr>
            <a:r>
              <a:rPr lang="es-MX" sz="4800" dirty="0"/>
              <a:t>calc1             </a:t>
            </a:r>
            <a:r>
              <a:rPr lang="es-MX" sz="4800" dirty="0" err="1"/>
              <a:t>stack</a:t>
            </a:r>
            <a:r>
              <a:rPr lang="es-MX" sz="4800" dirty="0"/>
              <a:t>[top-1] -= </a:t>
            </a:r>
            <a:r>
              <a:rPr lang="es-MX" sz="4800" dirty="0" err="1"/>
              <a:t>stack</a:t>
            </a:r>
            <a:r>
              <a:rPr lang="es-MX" sz="4800" dirty="0"/>
              <a:t>[top]; top--</a:t>
            </a:r>
          </a:p>
          <a:p>
            <a:pPr indent="0">
              <a:buNone/>
            </a:pPr>
            <a:r>
              <a:rPr lang="es-MX" sz="4800" dirty="0"/>
              <a:t>calc1         } </a:t>
            </a:r>
            <a:r>
              <a:rPr lang="es-MX" sz="4800" dirty="0" err="1"/>
              <a:t>else</a:t>
            </a:r>
            <a:r>
              <a:rPr lang="es-MX" sz="4800" dirty="0"/>
              <a:t> </a:t>
            </a:r>
            <a:r>
              <a:rPr lang="es-MX" sz="4800" dirty="0" err="1"/>
              <a:t>if</a:t>
            </a:r>
            <a:r>
              <a:rPr lang="es-MX" sz="4800" dirty="0"/>
              <a:t> ($i == "*" &amp;&amp; top &gt; 1) {</a:t>
            </a:r>
          </a:p>
          <a:p>
            <a:pPr indent="0">
              <a:buNone/>
            </a:pPr>
            <a:r>
              <a:rPr lang="es-MX" sz="4800" dirty="0"/>
              <a:t>calc1             </a:t>
            </a:r>
            <a:r>
              <a:rPr lang="es-MX" sz="4800" dirty="0" err="1"/>
              <a:t>stack</a:t>
            </a:r>
            <a:r>
              <a:rPr lang="es-MX" sz="4800" dirty="0"/>
              <a:t>[top-1] *= </a:t>
            </a:r>
            <a:r>
              <a:rPr lang="es-MX" sz="4800" dirty="0" err="1"/>
              <a:t>stack</a:t>
            </a:r>
            <a:r>
              <a:rPr lang="es-MX" sz="4800" dirty="0"/>
              <a:t>[top]; top--</a:t>
            </a:r>
          </a:p>
          <a:p>
            <a:pPr indent="0">
              <a:buNone/>
            </a:pPr>
            <a:r>
              <a:rPr lang="es-MX" sz="4800" dirty="0"/>
              <a:t>calc1         } </a:t>
            </a:r>
            <a:r>
              <a:rPr lang="es-MX" sz="4800" dirty="0" err="1"/>
              <a:t>else</a:t>
            </a:r>
            <a:r>
              <a:rPr lang="es-MX" sz="4800" dirty="0"/>
              <a:t> </a:t>
            </a:r>
            <a:r>
              <a:rPr lang="es-MX" sz="4800" dirty="0" err="1"/>
              <a:t>if</a:t>
            </a:r>
            <a:r>
              <a:rPr lang="es-MX" sz="4800" dirty="0"/>
              <a:t> ($i == "/" &amp;&amp; top &gt; 1) {</a:t>
            </a:r>
          </a:p>
          <a:p>
            <a:pPr indent="0">
              <a:buNone/>
            </a:pPr>
            <a:r>
              <a:rPr lang="es-MX" sz="4800" dirty="0"/>
              <a:t>calc1             </a:t>
            </a:r>
            <a:r>
              <a:rPr lang="es-MX" sz="4800" dirty="0" err="1"/>
              <a:t>stack</a:t>
            </a:r>
            <a:r>
              <a:rPr lang="es-MX" sz="4800" dirty="0"/>
              <a:t>[top-1] /= </a:t>
            </a:r>
            <a:r>
              <a:rPr lang="es-MX" sz="4800" dirty="0" err="1"/>
              <a:t>stack</a:t>
            </a:r>
            <a:r>
              <a:rPr lang="es-MX" sz="4800" dirty="0"/>
              <a:t>[top]; top--</a:t>
            </a:r>
          </a:p>
          <a:p>
            <a:pPr indent="0">
              <a:buNone/>
            </a:pPr>
            <a:r>
              <a:rPr lang="es-MX" sz="4800" dirty="0"/>
              <a:t>calc1         } </a:t>
            </a:r>
            <a:r>
              <a:rPr lang="es-MX" sz="4800" dirty="0" err="1"/>
              <a:t>else</a:t>
            </a:r>
            <a:r>
              <a:rPr lang="es-MX" sz="4800" dirty="0"/>
              <a:t> </a:t>
            </a:r>
            <a:r>
              <a:rPr lang="es-MX" sz="4800" dirty="0" err="1"/>
              <a:t>if</a:t>
            </a:r>
            <a:r>
              <a:rPr lang="es-MX" sz="4800" dirty="0"/>
              <a:t> ($i == "^" &amp;&amp; top &gt; 1) {</a:t>
            </a:r>
          </a:p>
          <a:p>
            <a:pPr indent="0">
              <a:buNone/>
            </a:pPr>
            <a:r>
              <a:rPr lang="es-MX" sz="4800" dirty="0"/>
              <a:t>calc1             </a:t>
            </a:r>
            <a:r>
              <a:rPr lang="es-MX" sz="4800" dirty="0" err="1"/>
              <a:t>stack</a:t>
            </a:r>
            <a:r>
              <a:rPr lang="es-MX" sz="4800" dirty="0"/>
              <a:t>[top-1] ^= </a:t>
            </a:r>
            <a:r>
              <a:rPr lang="es-MX" sz="4800" dirty="0" err="1"/>
              <a:t>stack</a:t>
            </a:r>
            <a:r>
              <a:rPr lang="es-MX" sz="4800" dirty="0"/>
              <a:t>[top]; top--</a:t>
            </a:r>
          </a:p>
          <a:p>
            <a:pPr indent="0">
              <a:buNone/>
            </a:pPr>
            <a:r>
              <a:rPr lang="es-MX" sz="4800" dirty="0"/>
              <a:t>calc1         } </a:t>
            </a:r>
            <a:r>
              <a:rPr lang="es-MX" sz="4800" dirty="0" err="1"/>
              <a:t>else</a:t>
            </a:r>
            <a:r>
              <a:rPr lang="es-MX" sz="4800" dirty="0"/>
              <a:t> </a:t>
            </a:r>
            <a:r>
              <a:rPr lang="es-MX" sz="4800" dirty="0" smtClean="0"/>
              <a:t>{</a:t>
            </a:r>
            <a:endParaRPr lang="es-MX" sz="4800" dirty="0"/>
          </a:p>
        </p:txBody>
      </p:sp>
    </p:spTree>
    <p:extLst>
      <p:ext uri="{BB962C8B-B14F-4D97-AF65-F5344CB8AC3E}">
        <p14:creationId xmlns:p14="http://schemas.microsoft.com/office/powerpoint/2010/main" val="2245976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50388" y="1844824"/>
            <a:ext cx="6400800" cy="685800"/>
          </a:xfrm>
        </p:spPr>
        <p:txBody>
          <a:bodyPr>
            <a:normAutofit fontScale="90000"/>
          </a:bodyPr>
          <a:lstStyle/>
          <a:p>
            <a:r>
              <a:rPr lang="es-MX" dirty="0"/>
              <a:t>Edite el archivo: </a:t>
            </a:r>
            <a:r>
              <a:rPr lang="es-MX" b="1" dirty="0" smtClean="0"/>
              <a:t>sourceAWK.txt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15616" y="2348880"/>
            <a:ext cx="6976864" cy="3192017"/>
          </a:xfrm>
        </p:spPr>
        <p:txBody>
          <a:bodyPr>
            <a:normAutofit fontScale="32500" lnSpcReduction="20000"/>
          </a:bodyPr>
          <a:lstStyle/>
          <a:p>
            <a:pPr indent="0">
              <a:buNone/>
            </a:pPr>
            <a:r>
              <a:rPr lang="es-MX" sz="4800" dirty="0"/>
              <a:t>calc1             </a:t>
            </a:r>
            <a:r>
              <a:rPr lang="es-MX" sz="4800" dirty="0" err="1"/>
              <a:t>printf</a:t>
            </a:r>
            <a:r>
              <a:rPr lang="es-MX" sz="4800" dirty="0"/>
              <a:t>("error: </a:t>
            </a:r>
            <a:r>
              <a:rPr lang="es-MX" sz="4800" dirty="0" err="1"/>
              <a:t>cannot</a:t>
            </a:r>
            <a:r>
              <a:rPr lang="es-MX" sz="4800" dirty="0"/>
              <a:t> </a:t>
            </a:r>
            <a:r>
              <a:rPr lang="es-MX" sz="4800" dirty="0" err="1"/>
              <a:t>evaluate</a:t>
            </a:r>
            <a:r>
              <a:rPr lang="es-MX" sz="4800" dirty="0"/>
              <a:t> %s\n", $i)</a:t>
            </a:r>
          </a:p>
          <a:p>
            <a:pPr indent="0">
              <a:buNone/>
            </a:pPr>
            <a:r>
              <a:rPr lang="es-MX" sz="4800" dirty="0"/>
              <a:t>calc1             top = 0</a:t>
            </a:r>
          </a:p>
          <a:p>
            <a:pPr indent="0">
              <a:buNone/>
            </a:pPr>
            <a:r>
              <a:rPr lang="es-MX" sz="4800" dirty="0"/>
              <a:t>calc1             </a:t>
            </a:r>
            <a:r>
              <a:rPr lang="es-MX" sz="4800" dirty="0" err="1"/>
              <a:t>next</a:t>
            </a:r>
            <a:endParaRPr lang="es-MX" sz="4800" dirty="0"/>
          </a:p>
          <a:p>
            <a:pPr indent="0">
              <a:buNone/>
            </a:pPr>
            <a:r>
              <a:rPr lang="es-MX" sz="4800" dirty="0"/>
              <a:t>calc1         }</a:t>
            </a:r>
          </a:p>
          <a:p>
            <a:pPr indent="0">
              <a:buNone/>
            </a:pPr>
            <a:r>
              <a:rPr lang="es-MX" sz="4800" dirty="0"/>
              <a:t>calc1     </a:t>
            </a:r>
            <a:r>
              <a:rPr lang="es-MX" sz="4800" dirty="0" err="1"/>
              <a:t>if</a:t>
            </a:r>
            <a:r>
              <a:rPr lang="es-MX" sz="4800" dirty="0"/>
              <a:t> (top == 1)</a:t>
            </a:r>
          </a:p>
          <a:p>
            <a:pPr indent="0">
              <a:buNone/>
            </a:pPr>
            <a:r>
              <a:rPr lang="es-MX" sz="4800" dirty="0"/>
              <a:t>calc1         </a:t>
            </a:r>
            <a:r>
              <a:rPr lang="es-MX" sz="4800" dirty="0" err="1"/>
              <a:t>printf</a:t>
            </a:r>
            <a:r>
              <a:rPr lang="es-MX" sz="4800" dirty="0"/>
              <a:t>("\t%.8g\n", </a:t>
            </a:r>
            <a:r>
              <a:rPr lang="es-MX" sz="4800" dirty="0" err="1"/>
              <a:t>stack</a:t>
            </a:r>
            <a:r>
              <a:rPr lang="es-MX" sz="4800" dirty="0"/>
              <a:t>[top--])</a:t>
            </a:r>
          </a:p>
          <a:p>
            <a:pPr indent="0">
              <a:buNone/>
            </a:pPr>
            <a:r>
              <a:rPr lang="es-MX" sz="4800" dirty="0"/>
              <a:t>calc1     </a:t>
            </a:r>
            <a:r>
              <a:rPr lang="es-MX" sz="4800" dirty="0" err="1"/>
              <a:t>else</a:t>
            </a:r>
            <a:r>
              <a:rPr lang="es-MX" sz="4800" dirty="0"/>
              <a:t> </a:t>
            </a:r>
            <a:r>
              <a:rPr lang="es-MX" sz="4800" dirty="0" err="1"/>
              <a:t>if</a:t>
            </a:r>
            <a:r>
              <a:rPr lang="es-MX" sz="4800" dirty="0"/>
              <a:t> (top &gt; 1) {</a:t>
            </a:r>
          </a:p>
          <a:p>
            <a:pPr indent="0">
              <a:buNone/>
            </a:pPr>
            <a:r>
              <a:rPr lang="es-MX" sz="4800" dirty="0"/>
              <a:t>calc1         </a:t>
            </a:r>
            <a:r>
              <a:rPr lang="es-MX" sz="4800" dirty="0" err="1"/>
              <a:t>printf</a:t>
            </a:r>
            <a:r>
              <a:rPr lang="es-MX" sz="4800" dirty="0"/>
              <a:t>("error: </a:t>
            </a:r>
            <a:r>
              <a:rPr lang="es-MX" sz="4800" dirty="0" err="1"/>
              <a:t>too</a:t>
            </a:r>
            <a:r>
              <a:rPr lang="es-MX" sz="4800" dirty="0"/>
              <a:t> </a:t>
            </a:r>
            <a:r>
              <a:rPr lang="es-MX" sz="4800" dirty="0" err="1"/>
              <a:t>many</a:t>
            </a:r>
            <a:r>
              <a:rPr lang="es-MX" sz="4800" dirty="0"/>
              <a:t> </a:t>
            </a:r>
            <a:r>
              <a:rPr lang="es-MX" sz="4800" dirty="0" err="1"/>
              <a:t>operands</a:t>
            </a:r>
            <a:r>
              <a:rPr lang="es-MX" sz="4800" dirty="0"/>
              <a:t>\n")</a:t>
            </a:r>
          </a:p>
          <a:p>
            <a:pPr indent="0">
              <a:buNone/>
            </a:pPr>
            <a:endParaRPr lang="es-MX" sz="4800" dirty="0"/>
          </a:p>
          <a:p>
            <a:pPr indent="0">
              <a:buNone/>
            </a:pPr>
            <a:endParaRPr lang="es-MX" sz="4800" dirty="0" smtClean="0"/>
          </a:p>
        </p:txBody>
      </p:sp>
    </p:spTree>
    <p:extLst>
      <p:ext uri="{BB962C8B-B14F-4D97-AF65-F5344CB8AC3E}">
        <p14:creationId xmlns:p14="http://schemas.microsoft.com/office/powerpoint/2010/main" val="168188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lta costura">
  <a:themeElements>
    <a:clrScheme name="Alta costura">
      <a:dk1>
        <a:sysClr val="windowText" lastClr="000000"/>
      </a:dk1>
      <a:lt1>
        <a:sysClr val="window" lastClr="FFFFFF"/>
      </a:lt1>
      <a:dk2>
        <a:srgbClr val="37302A"/>
      </a:dk2>
      <a:lt2>
        <a:srgbClr val="D0CCB9"/>
      </a:lt2>
      <a:accent1>
        <a:srgbClr val="9E8E5C"/>
      </a:accent1>
      <a:accent2>
        <a:srgbClr val="A09781"/>
      </a:accent2>
      <a:accent3>
        <a:srgbClr val="85776D"/>
      </a:accent3>
      <a:accent4>
        <a:srgbClr val="AEAFA9"/>
      </a:accent4>
      <a:accent5>
        <a:srgbClr val="8D878B"/>
      </a:accent5>
      <a:accent6>
        <a:srgbClr val="6B6149"/>
      </a:accent6>
      <a:hlink>
        <a:srgbClr val="B6A272"/>
      </a:hlink>
      <a:folHlink>
        <a:srgbClr val="8A784F"/>
      </a:folHlink>
    </a:clrScheme>
    <a:fontScheme name="Etiqueta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lta costura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0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100000" r="100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200000"/>
              </a:schemeClr>
              <a:schemeClr val="phClr">
                <a:tint val="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270</TotalTime>
  <Words>1143</Words>
  <Application>Microsoft Office PowerPoint</Application>
  <PresentationFormat>Presentación en pantalla (4:3)</PresentationFormat>
  <Paragraphs>116</Paragraphs>
  <Slides>31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2" baseType="lpstr">
      <vt:lpstr>Alta costura</vt:lpstr>
      <vt:lpstr>¿Porqué aprender awk?</vt:lpstr>
      <vt:lpstr>¿Porqué aprender awk?</vt:lpstr>
      <vt:lpstr>¿Porqué aprender awk?</vt:lpstr>
      <vt:lpstr>¿Porqué aprender awk?</vt:lpstr>
      <vt:lpstr>¿Porqué aprender awk?</vt:lpstr>
      <vt:lpstr>¿Porqué aprender awk?</vt:lpstr>
      <vt:lpstr>¿Porqué aprender awk?</vt:lpstr>
      <vt:lpstr>¿Qué son las expresiones regulares?</vt:lpstr>
      <vt:lpstr>¿Qué son las expresiones regulares?</vt:lpstr>
      <vt:lpstr>¿Qué son los componentes léxicos?</vt:lpstr>
      <vt:lpstr>¿Qué son los componentes léxicos?</vt:lpstr>
      <vt:lpstr>¿Qué Es UnA TABLA DE SIMBOLOS?</vt:lpstr>
      <vt:lpstr>¿Qué Es UnA TABLA DE SIMBOLOS?</vt:lpstr>
      <vt:lpstr>¿Qué Son LOS tokens?</vt:lpstr>
      <vt:lpstr>¿Qué Son LOS tokens?</vt:lpstr>
      <vt:lpstr>¿Qué eS un manejador de errores?</vt:lpstr>
      <vt:lpstr>¿Qué eS un manejador de errores?</vt:lpstr>
      <vt:lpstr>¿Qué eS un analizador léxico?</vt:lpstr>
      <vt:lpstr>¿Qué eS un analizador léxico?</vt:lpstr>
      <vt:lpstr>¿Cuáles Son las funciones básicas de un analizador léxico?</vt:lpstr>
      <vt:lpstr>¿Cuáles Son las funciones básicas de un analizador léxico?</vt:lpstr>
      <vt:lpstr>¿cuales Son las aplicaciones de un analizador léxico?</vt:lpstr>
      <vt:lpstr>¿cuales Son las aplicaciones de un analizador léxico?</vt:lpstr>
      <vt:lpstr>¿cuales Son las aplicaciones de un analizador léxico?</vt:lpstr>
      <vt:lpstr>¿cuales Son las aplicaciones de un analizador léxico?</vt:lpstr>
      <vt:lpstr>¿cuales Son las aplicaciones de un analizador léxico?</vt:lpstr>
      <vt:lpstr>¿cuales Son las aplicaciones de un analizador léxico?</vt:lpstr>
      <vt:lpstr>Edite el archivo: sourceAWK.txt</vt:lpstr>
      <vt:lpstr>Edite el archivo: sourceAWK.txt</vt:lpstr>
      <vt:lpstr>Edite el archivo: sourceAWK.txt</vt:lpstr>
      <vt:lpstr>Edite el archivo: sourceAWK.txt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¿Porqué aprender awk?</dc:title>
  <dc:creator>SARIS</dc:creator>
  <cp:lastModifiedBy>SARA</cp:lastModifiedBy>
  <cp:revision>16</cp:revision>
  <dcterms:created xsi:type="dcterms:W3CDTF">2015-11-19T04:13:26Z</dcterms:created>
  <dcterms:modified xsi:type="dcterms:W3CDTF">2016-08-31T15:23:56Z</dcterms:modified>
</cp:coreProperties>
</file>